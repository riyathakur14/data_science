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3954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15854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18113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5631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64408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78431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8127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3368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4589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1907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79737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95417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6118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58433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189948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635740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2987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5/12/2026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08131183"/>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9AA9E92-D173-4A6F-B6F5-AEB0B3849C39}"/>
              </a:ext>
            </a:extLst>
          </p:cNvPr>
          <p:cNvSpPr>
            <a:spLocks noGrp="1"/>
          </p:cNvSpPr>
          <p:nvPr>
            <p:ph type="subTitle" idx="1"/>
          </p:nvPr>
        </p:nvSpPr>
        <p:spPr>
          <a:xfrm>
            <a:off x="1751011" y="3886201"/>
            <a:ext cx="8755623" cy="524434"/>
          </a:xfrm>
        </p:spPr>
        <p:txBody>
          <a:bodyPr/>
          <a:lstStyle/>
          <a:p>
            <a:r>
              <a:rPr lang="en-US" dirty="0"/>
              <a:t>A MySQL PROJECT</a:t>
            </a:r>
          </a:p>
        </p:txBody>
      </p:sp>
      <p:sp>
        <p:nvSpPr>
          <p:cNvPr id="4" name="TextBox 3">
            <a:extLst>
              <a:ext uri="{FF2B5EF4-FFF2-40B4-BE49-F238E27FC236}">
                <a16:creationId xmlns:a16="http://schemas.microsoft.com/office/drawing/2014/main" id="{7A15C1B0-6F8E-45F2-99E6-FD82A024908A}"/>
              </a:ext>
            </a:extLst>
          </p:cNvPr>
          <p:cNvSpPr txBox="1"/>
          <p:nvPr/>
        </p:nvSpPr>
        <p:spPr>
          <a:xfrm>
            <a:off x="8117632" y="4994196"/>
            <a:ext cx="2911151" cy="1477328"/>
          </a:xfrm>
          <a:prstGeom prst="rect">
            <a:avLst/>
          </a:prstGeom>
          <a:noFill/>
        </p:spPr>
        <p:txBody>
          <a:bodyPr wrap="square" rtlCol="0">
            <a:spAutoFit/>
          </a:bodyPr>
          <a:lstStyle/>
          <a:p>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SUBMITTED BY,</a:t>
            </a:r>
          </a:p>
          <a:p>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NAME: RIYA THAKUR P</a:t>
            </a:r>
          </a:p>
          <a:p>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COURSE: DATA SCIENCE</a:t>
            </a:r>
          </a:p>
          <a:p>
            <a:r>
              <a:rPr lang="en-US" b="1" dirty="0">
                <a:ln w="10160">
                  <a:solidFill>
                    <a:schemeClr val="accent5"/>
                  </a:solidFill>
                  <a:prstDash val="solid"/>
                </a:ln>
                <a:solidFill>
                  <a:srgbClr val="002060"/>
                </a:solidFill>
                <a:effectLst>
                  <a:outerShdw blurRad="38100" dist="22860" dir="5400000" algn="tl" rotWithShape="0">
                    <a:srgbClr val="000000">
                      <a:alpha val="30000"/>
                    </a:srgbClr>
                  </a:outerShdw>
                </a:effectLst>
              </a:rPr>
              <a:t>DATE: 09/03/2026</a:t>
            </a:r>
          </a:p>
          <a:p>
            <a:endParaRPr lang="en-US" b="1" dirty="0"/>
          </a:p>
        </p:txBody>
      </p:sp>
      <p:sp>
        <p:nvSpPr>
          <p:cNvPr id="5" name="Rectangle 4">
            <a:extLst>
              <a:ext uri="{FF2B5EF4-FFF2-40B4-BE49-F238E27FC236}">
                <a16:creationId xmlns:a16="http://schemas.microsoft.com/office/drawing/2014/main" id="{D52BF51A-773D-4665-BCD8-9D00FC276E33}"/>
              </a:ext>
            </a:extLst>
          </p:cNvPr>
          <p:cNvSpPr/>
          <p:nvPr/>
        </p:nvSpPr>
        <p:spPr>
          <a:xfrm>
            <a:off x="1751011" y="1300878"/>
            <a:ext cx="9136196" cy="2585323"/>
          </a:xfrm>
          <a:prstGeom prst="rect">
            <a:avLst/>
          </a:prstGeom>
          <a:noFill/>
        </p:spPr>
        <p:txBody>
          <a:bodyPr wrap="squar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LOGISTIC OPTIMIZATION FOR DELIVERY ROUTES</a:t>
            </a:r>
            <a:br>
              <a:rPr lang="en-US" sz="5400" b="1" dirty="0">
                <a:ln w="22225">
                  <a:solidFill>
                    <a:schemeClr val="accent2"/>
                  </a:solidFill>
                  <a:prstDash val="solid"/>
                </a:ln>
                <a:solidFill>
                  <a:schemeClr val="accent2">
                    <a:lumMod val="40000"/>
                    <a:lumOff val="60000"/>
                  </a:schemeClr>
                </a:solidFill>
              </a:rPr>
            </a:br>
            <a:r>
              <a:rPr lang="en-US" sz="5400" b="1" dirty="0">
                <a:ln w="22225">
                  <a:solidFill>
                    <a:schemeClr val="accent2"/>
                  </a:solidFill>
                  <a:prstDash val="solid"/>
                </a:ln>
                <a:solidFill>
                  <a:schemeClr val="accent2">
                    <a:lumMod val="40000"/>
                    <a:lumOff val="60000"/>
                  </a:schemeClr>
                </a:solidFill>
              </a:rPr>
              <a:t>AMAZON</a:t>
            </a:r>
          </a:p>
        </p:txBody>
      </p:sp>
    </p:spTree>
    <p:extLst>
      <p:ext uri="{BB962C8B-B14F-4D97-AF65-F5344CB8AC3E}">
        <p14:creationId xmlns:p14="http://schemas.microsoft.com/office/powerpoint/2010/main" val="368598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58BE0-D7CF-4CDA-A4CC-FAFB0667840D}"/>
              </a:ext>
            </a:extLst>
          </p:cNvPr>
          <p:cNvSpPr>
            <a:spLocks noGrp="1"/>
          </p:cNvSpPr>
          <p:nvPr>
            <p:ph type="title"/>
          </p:nvPr>
        </p:nvSpPr>
        <p:spPr>
          <a:xfrm>
            <a:off x="913775" y="618518"/>
            <a:ext cx="10364451" cy="1524048"/>
          </a:xfrm>
        </p:spPr>
        <p:txBody>
          <a:bodyPr/>
          <a:lstStyle/>
          <a:p>
            <a:r>
              <a:rPr lang="en-US" sz="3600" b="1" i="0" u="none" strike="noStrike" baseline="0" dirty="0">
                <a:latin typeface="Arial" panose="020B0604020202020204" pitchFamily="34" charset="0"/>
              </a:rPr>
              <a:t>Project Objective</a:t>
            </a:r>
            <a:br>
              <a:rPr lang="en-US" sz="3600" b="0" i="0" u="none" strike="noStrike" baseline="0" dirty="0">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BCF577AA-9C55-41FF-9C76-7D36D0AB105B}"/>
              </a:ext>
            </a:extLst>
          </p:cNvPr>
          <p:cNvSpPr>
            <a:spLocks noGrp="1"/>
          </p:cNvSpPr>
          <p:nvPr>
            <p:ph sz="quarter" idx="13"/>
          </p:nvPr>
        </p:nvSpPr>
        <p:spPr/>
        <p:txBody>
          <a:bodyPr/>
          <a:lstStyle/>
          <a:p>
            <a:endParaRPr lang="en-US" sz="1800" b="0" i="0" u="none" strike="noStrike" baseline="0" dirty="0">
              <a:latin typeface="Arial" panose="020B0604020202020204" pitchFamily="34" charset="0"/>
            </a:endParaRPr>
          </a:p>
          <a:p>
            <a:r>
              <a:rPr lang="en-US" sz="1800" b="0" i="0" u="none" strike="noStrike" baseline="0" dirty="0">
                <a:latin typeface="Arial" panose="020B0604020202020204" pitchFamily="34" charset="0"/>
              </a:rPr>
              <a:t>TO Build a SQL-driven Logistics analytics system to analyze delays, optimize routes, and enhance shipment efficiency by leveraging queries, aggregations. The project aims to answer key business questions, uncover inefficiencies, and recommend actionable improvements based on data analysis. </a:t>
            </a:r>
            <a:endParaRPr lang="en-US" dirty="0"/>
          </a:p>
        </p:txBody>
      </p:sp>
    </p:spTree>
    <p:extLst>
      <p:ext uri="{BB962C8B-B14F-4D97-AF65-F5344CB8AC3E}">
        <p14:creationId xmlns:p14="http://schemas.microsoft.com/office/powerpoint/2010/main" val="2119340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799CD-B0FE-4884-91E5-18B7F083FC3D}"/>
              </a:ext>
            </a:extLst>
          </p:cNvPr>
          <p:cNvSpPr>
            <a:spLocks noGrp="1"/>
          </p:cNvSpPr>
          <p:nvPr>
            <p:ph type="title"/>
          </p:nvPr>
        </p:nvSpPr>
        <p:spPr>
          <a:xfrm>
            <a:off x="913775" y="618518"/>
            <a:ext cx="10364451" cy="448284"/>
          </a:xfrm>
        </p:spPr>
        <p:txBody>
          <a:bodyPr>
            <a:normAutofit fontScale="90000"/>
          </a:bodyPr>
          <a:lstStyle/>
          <a:p>
            <a:r>
              <a:rPr lang="en-US" sz="2800" b="1" dirty="0"/>
              <a:t>TASK 1: DATA CLEANING &amp; PREPARATION</a:t>
            </a:r>
          </a:p>
        </p:txBody>
      </p:sp>
      <p:sp>
        <p:nvSpPr>
          <p:cNvPr id="3" name="Content Placeholder 2">
            <a:extLst>
              <a:ext uri="{FF2B5EF4-FFF2-40B4-BE49-F238E27FC236}">
                <a16:creationId xmlns:a16="http://schemas.microsoft.com/office/drawing/2014/main" id="{4C50CC06-3533-4DF9-90D2-CFC51C29F6D1}"/>
              </a:ext>
            </a:extLst>
          </p:cNvPr>
          <p:cNvSpPr>
            <a:spLocks noGrp="1"/>
          </p:cNvSpPr>
          <p:nvPr>
            <p:ph sz="quarter" idx="13"/>
          </p:nvPr>
        </p:nvSpPr>
        <p:spPr>
          <a:xfrm>
            <a:off x="913774" y="1335742"/>
            <a:ext cx="10363826" cy="537882"/>
          </a:xfrm>
        </p:spPr>
        <p:txBody>
          <a:bodyPr/>
          <a:lstStyle/>
          <a:p>
            <a:pPr marL="0" indent="0">
              <a:buNone/>
            </a:pPr>
            <a:r>
              <a:rPr lang="en-US" dirty="0"/>
              <a:t>IDENTIFY AND DELETE DUPLICATE Order_id records</a:t>
            </a:r>
          </a:p>
        </p:txBody>
      </p:sp>
      <p:pic>
        <p:nvPicPr>
          <p:cNvPr id="4" name="Picture 3">
            <a:extLst>
              <a:ext uri="{FF2B5EF4-FFF2-40B4-BE49-F238E27FC236}">
                <a16:creationId xmlns:a16="http://schemas.microsoft.com/office/drawing/2014/main" id="{7A12FDDD-F1FC-41A9-A16E-B591A66DBD01}"/>
              </a:ext>
            </a:extLst>
          </p:cNvPr>
          <p:cNvPicPr/>
          <p:nvPr/>
        </p:nvPicPr>
        <p:blipFill>
          <a:blip r:embed="rId2"/>
          <a:stretch>
            <a:fillRect/>
          </a:stretch>
        </p:blipFill>
        <p:spPr>
          <a:xfrm>
            <a:off x="1581644" y="1873624"/>
            <a:ext cx="9028085" cy="4554070"/>
          </a:xfrm>
          <a:prstGeom prst="rect">
            <a:avLst/>
          </a:prstGeom>
        </p:spPr>
      </p:pic>
    </p:spTree>
    <p:extLst>
      <p:ext uri="{BB962C8B-B14F-4D97-AF65-F5344CB8AC3E}">
        <p14:creationId xmlns:p14="http://schemas.microsoft.com/office/powerpoint/2010/main" val="3558348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8FA6D-C77F-4F48-BF18-D46673892118}"/>
              </a:ext>
            </a:extLst>
          </p:cNvPr>
          <p:cNvSpPr>
            <a:spLocks noGrp="1"/>
          </p:cNvSpPr>
          <p:nvPr>
            <p:ph type="title"/>
          </p:nvPr>
        </p:nvSpPr>
        <p:spPr>
          <a:xfrm>
            <a:off x="913776" y="618518"/>
            <a:ext cx="4601200" cy="717224"/>
          </a:xfrm>
        </p:spPr>
        <p:txBody>
          <a:bodyPr>
            <a:normAutofit/>
          </a:bodyPr>
          <a:lstStyle/>
          <a:p>
            <a:r>
              <a:rPr lang="en-US" sz="2000" dirty="0"/>
              <a:t>The </a:t>
            </a:r>
            <a:r>
              <a:rPr lang="en-US" sz="2000" cap="none" dirty="0"/>
              <a:t>shipment_tracking </a:t>
            </a:r>
            <a:r>
              <a:rPr lang="en-US" sz="2000" dirty="0"/>
              <a:t>table has duplicate values</a:t>
            </a:r>
          </a:p>
        </p:txBody>
      </p:sp>
      <p:pic>
        <p:nvPicPr>
          <p:cNvPr id="4" name="Content Placeholder 3">
            <a:extLst>
              <a:ext uri="{FF2B5EF4-FFF2-40B4-BE49-F238E27FC236}">
                <a16:creationId xmlns:a16="http://schemas.microsoft.com/office/drawing/2014/main" id="{7403F1D5-C756-41F9-9CA6-4C24BEDEBE53}"/>
              </a:ext>
            </a:extLst>
          </p:cNvPr>
          <p:cNvPicPr>
            <a:picLocks noGrp="1"/>
          </p:cNvPicPr>
          <p:nvPr>
            <p:ph sz="quarter" idx="13"/>
          </p:nvPr>
        </p:nvPicPr>
        <p:blipFill rotWithShape="1">
          <a:blip r:embed="rId2"/>
          <a:srcRect l="18521" t="12354" r="27053" b="206"/>
          <a:stretch/>
        </p:blipFill>
        <p:spPr>
          <a:xfrm>
            <a:off x="352113" y="1592918"/>
            <a:ext cx="5479520" cy="4522132"/>
          </a:xfrm>
          <a:prstGeom prst="rect">
            <a:avLst/>
          </a:prstGeom>
        </p:spPr>
      </p:pic>
      <p:sp>
        <p:nvSpPr>
          <p:cNvPr id="5" name="Title 1">
            <a:extLst>
              <a:ext uri="{FF2B5EF4-FFF2-40B4-BE49-F238E27FC236}">
                <a16:creationId xmlns:a16="http://schemas.microsoft.com/office/drawing/2014/main" id="{19662FDC-D5BE-42EF-9C20-19E7449F882F}"/>
              </a:ext>
            </a:extLst>
          </p:cNvPr>
          <p:cNvSpPr txBox="1">
            <a:spLocks/>
          </p:cNvSpPr>
          <p:nvPr/>
        </p:nvSpPr>
        <p:spPr>
          <a:xfrm>
            <a:off x="6677024" y="618518"/>
            <a:ext cx="4601200" cy="717224"/>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000" dirty="0"/>
              <a:t>DELETE DUPLICATES QUERY</a:t>
            </a:r>
          </a:p>
        </p:txBody>
      </p:sp>
      <p:pic>
        <p:nvPicPr>
          <p:cNvPr id="7" name="Content Placeholder 3">
            <a:extLst>
              <a:ext uri="{FF2B5EF4-FFF2-40B4-BE49-F238E27FC236}">
                <a16:creationId xmlns:a16="http://schemas.microsoft.com/office/drawing/2014/main" id="{D1266EAF-8E43-4C31-BB4F-4A08A9A9DA33}"/>
              </a:ext>
            </a:extLst>
          </p:cNvPr>
          <p:cNvPicPr>
            <a:picLocks/>
          </p:cNvPicPr>
          <p:nvPr/>
        </p:nvPicPr>
        <p:blipFill rotWithShape="1">
          <a:blip r:embed="rId3"/>
          <a:srcRect l="18341" t="11259" r="34805"/>
          <a:stretch/>
        </p:blipFill>
        <p:spPr>
          <a:xfrm>
            <a:off x="6360369" y="1592917"/>
            <a:ext cx="5218921" cy="4522133"/>
          </a:xfrm>
          <a:prstGeom prst="rect">
            <a:avLst/>
          </a:prstGeom>
        </p:spPr>
      </p:pic>
    </p:spTree>
    <p:extLst>
      <p:ext uri="{BB962C8B-B14F-4D97-AF65-F5344CB8AC3E}">
        <p14:creationId xmlns:p14="http://schemas.microsoft.com/office/powerpoint/2010/main" val="1438882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5733A-ECEA-4F47-BCF7-A7EE9EACB242}"/>
              </a:ext>
            </a:extLst>
          </p:cNvPr>
          <p:cNvSpPr>
            <a:spLocks noGrp="1"/>
          </p:cNvSpPr>
          <p:nvPr>
            <p:ph type="title"/>
          </p:nvPr>
        </p:nvSpPr>
        <p:spPr>
          <a:xfrm>
            <a:off x="6096000" y="571500"/>
            <a:ext cx="5495925" cy="838200"/>
          </a:xfrm>
        </p:spPr>
        <p:txBody>
          <a:bodyPr>
            <a:normAutofit fontScale="90000"/>
          </a:bodyPr>
          <a:lstStyle/>
          <a:p>
            <a:br>
              <a:rPr lang="en-US" sz="1800" b="0" i="0" u="none" strike="noStrike" baseline="0" dirty="0">
                <a:solidFill>
                  <a:srgbClr val="000000"/>
                </a:solidFill>
              </a:rPr>
            </a:br>
            <a:br>
              <a:rPr lang="en-US" sz="1800" b="0" i="0" u="none" strike="noStrike" baseline="0" dirty="0"/>
            </a:br>
            <a:r>
              <a:rPr lang="en-US" sz="1800" b="0" i="0" u="none" strike="noStrike" baseline="0" dirty="0"/>
              <a:t> </a:t>
            </a:r>
            <a:br>
              <a:rPr lang="en-US" sz="1800" b="0" i="0" u="none" strike="noStrike" baseline="0" dirty="0">
                <a:solidFill>
                  <a:srgbClr val="000000"/>
                </a:solidFill>
              </a:rPr>
            </a:br>
            <a:br>
              <a:rPr lang="en-US" sz="1800" b="0" i="0" u="none" strike="noStrike" baseline="0" dirty="0"/>
            </a:br>
            <a:r>
              <a:rPr lang="en-US" sz="1800" b="0" i="0" u="none" strike="noStrike" baseline="0" dirty="0"/>
              <a:t> </a:t>
            </a:r>
            <a:r>
              <a:rPr lang="en-US" sz="2200" b="0" i="0" u="none" strike="noStrike" baseline="0" dirty="0"/>
              <a:t>1. c) Convert all date columns into YYYY-MM-DD format using SQL functions. </a:t>
            </a:r>
            <a:br>
              <a:rPr lang="en-US" sz="1800" b="0" i="0" u="none" strike="noStrike" baseline="0" dirty="0"/>
            </a:br>
            <a:br>
              <a:rPr lang="en-US" sz="1800" b="0" i="0" u="none" strike="noStrike" baseline="0" dirty="0"/>
            </a:br>
            <a:endParaRPr lang="en-US" dirty="0"/>
          </a:p>
        </p:txBody>
      </p:sp>
      <p:pic>
        <p:nvPicPr>
          <p:cNvPr id="4" name="Content Placeholder 3">
            <a:extLst>
              <a:ext uri="{FF2B5EF4-FFF2-40B4-BE49-F238E27FC236}">
                <a16:creationId xmlns:a16="http://schemas.microsoft.com/office/drawing/2014/main" id="{7D5BC719-4489-457A-80EA-52780731C10A}"/>
              </a:ext>
            </a:extLst>
          </p:cNvPr>
          <p:cNvPicPr>
            <a:picLocks noGrp="1"/>
          </p:cNvPicPr>
          <p:nvPr>
            <p:ph sz="quarter" idx="13"/>
          </p:nvPr>
        </p:nvPicPr>
        <p:blipFill rotWithShape="1">
          <a:blip r:embed="rId2"/>
          <a:srcRect r="38283"/>
          <a:stretch/>
        </p:blipFill>
        <p:spPr>
          <a:xfrm>
            <a:off x="381000" y="1609724"/>
            <a:ext cx="5495925" cy="4676775"/>
          </a:xfrm>
          <a:prstGeom prst="rect">
            <a:avLst/>
          </a:prstGeom>
        </p:spPr>
      </p:pic>
      <p:sp>
        <p:nvSpPr>
          <p:cNvPr id="6" name="Title 1">
            <a:extLst>
              <a:ext uri="{FF2B5EF4-FFF2-40B4-BE49-F238E27FC236}">
                <a16:creationId xmlns:a16="http://schemas.microsoft.com/office/drawing/2014/main" id="{C8B4BBD3-33E3-4945-AF19-EE05001CA5A2}"/>
              </a:ext>
            </a:extLst>
          </p:cNvPr>
          <p:cNvSpPr txBox="1">
            <a:spLocks/>
          </p:cNvSpPr>
          <p:nvPr/>
        </p:nvSpPr>
        <p:spPr>
          <a:xfrm>
            <a:off x="733426" y="571500"/>
            <a:ext cx="4895850" cy="838200"/>
          </a:xfrm>
          <a:prstGeom prst="rect">
            <a:avLst/>
          </a:prstGeom>
        </p:spPr>
        <p:txBody>
          <a:bodyPr vert="horz" lIns="91440" tIns="45720" rIns="91440" bIns="45720" rtlCol="0" anchor="ctr">
            <a:normAutofit fontScale="25000" lnSpcReduction="200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br>
              <a:rPr lang="en-US" sz="1800" dirty="0">
                <a:solidFill>
                  <a:srgbClr val="000000"/>
                </a:solidFill>
              </a:rPr>
            </a:br>
            <a:br>
              <a:rPr lang="en-US" sz="8000" dirty="0"/>
            </a:br>
            <a:r>
              <a:rPr lang="en-US" sz="8000" dirty="0"/>
              <a:t> 1. b) Replace null </a:t>
            </a:r>
            <a:r>
              <a:rPr lang="en-US" sz="8000" cap="none" dirty="0"/>
              <a:t>traffic_delay_min </a:t>
            </a:r>
            <a:r>
              <a:rPr lang="en-US" sz="8000" dirty="0"/>
              <a:t>with the average delay for that route </a:t>
            </a:r>
            <a:br>
              <a:rPr lang="en-US" sz="1800" dirty="0"/>
            </a:br>
            <a:endParaRPr lang="en-US" dirty="0"/>
          </a:p>
        </p:txBody>
      </p:sp>
      <p:pic>
        <p:nvPicPr>
          <p:cNvPr id="7" name="Picture 6">
            <a:extLst>
              <a:ext uri="{FF2B5EF4-FFF2-40B4-BE49-F238E27FC236}">
                <a16:creationId xmlns:a16="http://schemas.microsoft.com/office/drawing/2014/main" id="{388391FF-5E83-466A-AB5C-ADE7630F9612}"/>
              </a:ext>
            </a:extLst>
          </p:cNvPr>
          <p:cNvPicPr/>
          <p:nvPr/>
        </p:nvPicPr>
        <p:blipFill rotWithShape="1">
          <a:blip r:embed="rId3"/>
          <a:srcRect r="27564"/>
          <a:stretch/>
        </p:blipFill>
        <p:spPr>
          <a:xfrm>
            <a:off x="6096000" y="1609725"/>
            <a:ext cx="5800725" cy="4676774"/>
          </a:xfrm>
          <a:prstGeom prst="rect">
            <a:avLst/>
          </a:prstGeom>
        </p:spPr>
      </p:pic>
    </p:spTree>
    <p:extLst>
      <p:ext uri="{BB962C8B-B14F-4D97-AF65-F5344CB8AC3E}">
        <p14:creationId xmlns:p14="http://schemas.microsoft.com/office/powerpoint/2010/main" val="21910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5449-0817-4ACF-AC78-E126ED895B64}"/>
              </a:ext>
            </a:extLst>
          </p:cNvPr>
          <p:cNvSpPr>
            <a:spLocks noGrp="1"/>
          </p:cNvSpPr>
          <p:nvPr>
            <p:ph type="title"/>
          </p:nvPr>
        </p:nvSpPr>
        <p:spPr>
          <a:xfrm>
            <a:off x="913775" y="618517"/>
            <a:ext cx="10364451" cy="629258"/>
          </a:xfrm>
        </p:spPr>
        <p:txBody>
          <a:bodyPr>
            <a:normAutofit fontScale="90000"/>
          </a:bodyPr>
          <a:lstStyle/>
          <a:p>
            <a:br>
              <a:rPr lang="en-US" sz="1800" b="0" i="0" u="none" strike="noStrike" baseline="0" dirty="0">
                <a:solidFill>
                  <a:srgbClr val="000000"/>
                </a:solidFill>
              </a:rPr>
            </a:br>
            <a:br>
              <a:rPr lang="en-US" sz="2200" b="0" i="0" u="none" strike="noStrike" baseline="0" dirty="0"/>
            </a:br>
            <a:r>
              <a:rPr lang="en-US" sz="2200" b="0" i="0" u="none" strike="noStrike" baseline="0" dirty="0"/>
              <a:t> 1. </a:t>
            </a:r>
            <a:r>
              <a:rPr lang="en-US" sz="2200" dirty="0"/>
              <a:t>d) </a:t>
            </a:r>
            <a:r>
              <a:rPr lang="en-US" sz="2200" b="0" i="0" u="none" strike="noStrike" baseline="0" dirty="0"/>
              <a:t>Ensure that no </a:t>
            </a:r>
            <a:r>
              <a:rPr lang="en-US" sz="2200" b="0" i="0" u="none" strike="noStrike" cap="none" baseline="0" dirty="0"/>
              <a:t>actual_delivery_date </a:t>
            </a:r>
            <a:r>
              <a:rPr lang="en-US" sz="2200" b="0" i="0" u="none" strike="noStrike" baseline="0" dirty="0"/>
              <a:t>is before </a:t>
            </a:r>
            <a:r>
              <a:rPr lang="en-US" sz="2200" b="0" i="0" u="none" strike="noStrike" cap="none" baseline="0" dirty="0"/>
              <a:t>order_date </a:t>
            </a:r>
            <a:r>
              <a:rPr lang="en-US" sz="2200" b="0" i="0" u="none" strike="noStrike" baseline="0" dirty="0"/>
              <a:t>(flag such records). </a:t>
            </a:r>
            <a:br>
              <a:rPr lang="en-US" sz="1800" b="0" i="0" u="none" strike="noStrike" baseline="0" dirty="0"/>
            </a:br>
            <a:endParaRPr lang="en-US" dirty="0"/>
          </a:p>
        </p:txBody>
      </p:sp>
      <p:pic>
        <p:nvPicPr>
          <p:cNvPr id="4" name="Content Placeholder 3">
            <a:extLst>
              <a:ext uri="{FF2B5EF4-FFF2-40B4-BE49-F238E27FC236}">
                <a16:creationId xmlns:a16="http://schemas.microsoft.com/office/drawing/2014/main" id="{DC632FC2-C6D0-4174-BC16-B1F361EB8852}"/>
              </a:ext>
            </a:extLst>
          </p:cNvPr>
          <p:cNvPicPr>
            <a:picLocks noGrp="1"/>
          </p:cNvPicPr>
          <p:nvPr>
            <p:ph sz="quarter" idx="13"/>
          </p:nvPr>
        </p:nvPicPr>
        <p:blipFill>
          <a:blip r:embed="rId2"/>
          <a:stretch>
            <a:fillRect/>
          </a:stretch>
        </p:blipFill>
        <p:spPr>
          <a:xfrm>
            <a:off x="1343025" y="1514475"/>
            <a:ext cx="9935201" cy="4725008"/>
          </a:xfrm>
          <a:prstGeom prst="rect">
            <a:avLst/>
          </a:prstGeom>
        </p:spPr>
      </p:pic>
    </p:spTree>
    <p:extLst>
      <p:ext uri="{BB962C8B-B14F-4D97-AF65-F5344CB8AC3E}">
        <p14:creationId xmlns:p14="http://schemas.microsoft.com/office/powerpoint/2010/main" val="452262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32BA5-81B8-492E-9A2B-94C7FBEA4A03}"/>
              </a:ext>
            </a:extLst>
          </p:cNvPr>
          <p:cNvSpPr>
            <a:spLocks noGrp="1"/>
          </p:cNvSpPr>
          <p:nvPr>
            <p:ph type="title"/>
          </p:nvPr>
        </p:nvSpPr>
        <p:spPr>
          <a:xfrm>
            <a:off x="913775" y="618517"/>
            <a:ext cx="10364451" cy="543533"/>
          </a:xfrm>
        </p:spPr>
        <p:txBody>
          <a:bodyPr>
            <a:normAutofit/>
          </a:bodyPr>
          <a:lstStyle/>
          <a:p>
            <a:r>
              <a:rPr lang="en-US" sz="2500" b="1" dirty="0"/>
              <a:t>Task 2: delivery delay analysis</a:t>
            </a:r>
          </a:p>
        </p:txBody>
      </p:sp>
      <p:sp>
        <p:nvSpPr>
          <p:cNvPr id="3" name="Content Placeholder 2">
            <a:extLst>
              <a:ext uri="{FF2B5EF4-FFF2-40B4-BE49-F238E27FC236}">
                <a16:creationId xmlns:a16="http://schemas.microsoft.com/office/drawing/2014/main" id="{BBEE1618-CDB5-4B72-B385-29256A4C5B99}"/>
              </a:ext>
            </a:extLst>
          </p:cNvPr>
          <p:cNvSpPr>
            <a:spLocks noGrp="1"/>
          </p:cNvSpPr>
          <p:nvPr>
            <p:ph sz="quarter" idx="13"/>
          </p:nvPr>
        </p:nvSpPr>
        <p:spPr>
          <a:xfrm>
            <a:off x="6400800" y="1447800"/>
            <a:ext cx="4877426" cy="771523"/>
          </a:xfrm>
        </p:spPr>
        <p:txBody>
          <a:bodyPr>
            <a:normAutofit fontScale="92500" lnSpcReduction="10000"/>
          </a:bodyPr>
          <a:lstStyle/>
          <a:p>
            <a:pPr marL="0" indent="0" algn="ctr">
              <a:buNone/>
            </a:pPr>
            <a:r>
              <a:rPr lang="en-US" sz="2200" dirty="0"/>
              <a:t>2. b)</a:t>
            </a:r>
            <a:r>
              <a:rPr lang="en-US" sz="2200" b="0" i="0" u="none" strike="noStrike" baseline="0" dirty="0"/>
              <a:t> Find Top 10 delayed routes based on average delay days. </a:t>
            </a:r>
          </a:p>
          <a:p>
            <a:pPr marL="0" indent="0">
              <a:buNone/>
            </a:pPr>
            <a:endParaRPr lang="en-US" dirty="0"/>
          </a:p>
        </p:txBody>
      </p:sp>
      <p:sp>
        <p:nvSpPr>
          <p:cNvPr id="4" name="Content Placeholder 2">
            <a:extLst>
              <a:ext uri="{FF2B5EF4-FFF2-40B4-BE49-F238E27FC236}">
                <a16:creationId xmlns:a16="http://schemas.microsoft.com/office/drawing/2014/main" id="{63040318-DFC0-446F-8BAE-EA5ABB100F12}"/>
              </a:ext>
            </a:extLst>
          </p:cNvPr>
          <p:cNvSpPr txBox="1">
            <a:spLocks/>
          </p:cNvSpPr>
          <p:nvPr/>
        </p:nvSpPr>
        <p:spPr>
          <a:xfrm>
            <a:off x="533086" y="1457326"/>
            <a:ext cx="5410514" cy="77152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Font typeface="Arial" panose="020B0604020202020204" pitchFamily="34" charset="0"/>
              <a:buNone/>
            </a:pPr>
            <a:r>
              <a:rPr lang="en-US" sz="2600" dirty="0"/>
              <a:t>2</a:t>
            </a:r>
            <a:r>
              <a:rPr lang="en-US" sz="2400" dirty="0"/>
              <a:t>. a)  Calculate delivery delay (in days) for each order </a:t>
            </a:r>
          </a:p>
          <a:p>
            <a:pPr marL="0" indent="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D14DB305-1536-4755-98CC-6339C14995A2}"/>
              </a:ext>
            </a:extLst>
          </p:cNvPr>
          <p:cNvPicPr/>
          <p:nvPr/>
        </p:nvPicPr>
        <p:blipFill rotWithShape="1">
          <a:blip r:embed="rId2"/>
          <a:srcRect r="36052"/>
          <a:stretch/>
        </p:blipFill>
        <p:spPr>
          <a:xfrm>
            <a:off x="533086" y="2228849"/>
            <a:ext cx="5410513" cy="4010634"/>
          </a:xfrm>
          <a:prstGeom prst="rect">
            <a:avLst/>
          </a:prstGeom>
        </p:spPr>
      </p:pic>
      <p:pic>
        <p:nvPicPr>
          <p:cNvPr id="6" name="Picture 5">
            <a:extLst>
              <a:ext uri="{FF2B5EF4-FFF2-40B4-BE49-F238E27FC236}">
                <a16:creationId xmlns:a16="http://schemas.microsoft.com/office/drawing/2014/main" id="{37B40A20-C930-4EBB-B029-2F088DA8495D}"/>
              </a:ext>
            </a:extLst>
          </p:cNvPr>
          <p:cNvPicPr/>
          <p:nvPr/>
        </p:nvPicPr>
        <p:blipFill rotWithShape="1">
          <a:blip r:embed="rId3"/>
          <a:srcRect r="40224"/>
          <a:stretch/>
        </p:blipFill>
        <p:spPr>
          <a:xfrm>
            <a:off x="6248402" y="2228848"/>
            <a:ext cx="5562598" cy="4010633"/>
          </a:xfrm>
          <a:prstGeom prst="rect">
            <a:avLst/>
          </a:prstGeom>
        </p:spPr>
      </p:pic>
    </p:spTree>
    <p:extLst>
      <p:ext uri="{BB962C8B-B14F-4D97-AF65-F5344CB8AC3E}">
        <p14:creationId xmlns:p14="http://schemas.microsoft.com/office/powerpoint/2010/main" val="50837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5437-84A4-4650-8802-4F511C3E2151}"/>
              </a:ext>
            </a:extLst>
          </p:cNvPr>
          <p:cNvSpPr>
            <a:spLocks noGrp="1"/>
          </p:cNvSpPr>
          <p:nvPr>
            <p:ph type="title"/>
          </p:nvPr>
        </p:nvSpPr>
        <p:spPr>
          <a:xfrm>
            <a:off x="913775" y="618518"/>
            <a:ext cx="10364451" cy="857858"/>
          </a:xfrm>
        </p:spPr>
        <p:txBody>
          <a:bodyPr>
            <a:normAutofit fontScale="90000"/>
          </a:bodyPr>
          <a:lstStyle/>
          <a:p>
            <a:pPr algn="l"/>
            <a:r>
              <a:rPr lang="en-US" sz="2200" dirty="0"/>
              <a:t>2. c) </a:t>
            </a:r>
            <a:r>
              <a:rPr lang="en-US" sz="2200" b="0" i="0" u="none" strike="noStrike" baseline="0" dirty="0"/>
              <a:t>Use window functions to rank all orders by delay within each warehouse. </a:t>
            </a:r>
            <a:br>
              <a:rPr lang="en-US" sz="1800" b="0" i="0" u="none" strike="noStrike" baseline="0" dirty="0"/>
            </a:br>
            <a:endParaRPr lang="en-US" dirty="0"/>
          </a:p>
        </p:txBody>
      </p:sp>
      <p:pic>
        <p:nvPicPr>
          <p:cNvPr id="5" name="Picture 4">
            <a:extLst>
              <a:ext uri="{FF2B5EF4-FFF2-40B4-BE49-F238E27FC236}">
                <a16:creationId xmlns:a16="http://schemas.microsoft.com/office/drawing/2014/main" id="{DBA030B7-D817-4381-A46E-10C5A3D717FD}"/>
              </a:ext>
            </a:extLst>
          </p:cNvPr>
          <p:cNvPicPr>
            <a:picLocks noChangeAspect="1"/>
          </p:cNvPicPr>
          <p:nvPr/>
        </p:nvPicPr>
        <p:blipFill rotWithShape="1">
          <a:blip r:embed="rId2"/>
          <a:srcRect r="609"/>
          <a:stretch/>
        </p:blipFill>
        <p:spPr>
          <a:xfrm>
            <a:off x="1623264" y="1256411"/>
            <a:ext cx="8945472" cy="4983071"/>
          </a:xfrm>
          <a:prstGeom prst="rect">
            <a:avLst/>
          </a:prstGeom>
        </p:spPr>
      </p:pic>
    </p:spTree>
    <p:extLst>
      <p:ext uri="{BB962C8B-B14F-4D97-AF65-F5344CB8AC3E}">
        <p14:creationId xmlns:p14="http://schemas.microsoft.com/office/powerpoint/2010/main" val="2237740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18D4-3221-4A7B-BD22-F5FA49D0E62B}"/>
              </a:ext>
            </a:extLst>
          </p:cNvPr>
          <p:cNvSpPr>
            <a:spLocks noGrp="1"/>
          </p:cNvSpPr>
          <p:nvPr>
            <p:ph type="title"/>
          </p:nvPr>
        </p:nvSpPr>
        <p:spPr>
          <a:xfrm>
            <a:off x="913775" y="618518"/>
            <a:ext cx="10364451" cy="648308"/>
          </a:xfrm>
        </p:spPr>
        <p:txBody>
          <a:bodyPr>
            <a:normAutofit/>
          </a:bodyPr>
          <a:lstStyle/>
          <a:p>
            <a:r>
              <a:rPr lang="en-US" sz="2500" b="1" dirty="0"/>
              <a:t>Task 3: route optimization insights</a:t>
            </a:r>
          </a:p>
        </p:txBody>
      </p:sp>
      <p:sp>
        <p:nvSpPr>
          <p:cNvPr id="3" name="Content Placeholder 2">
            <a:extLst>
              <a:ext uri="{FF2B5EF4-FFF2-40B4-BE49-F238E27FC236}">
                <a16:creationId xmlns:a16="http://schemas.microsoft.com/office/drawing/2014/main" id="{883A0489-8723-4111-A93E-16C162E8BFB8}"/>
              </a:ext>
            </a:extLst>
          </p:cNvPr>
          <p:cNvSpPr>
            <a:spLocks noGrp="1"/>
          </p:cNvSpPr>
          <p:nvPr>
            <p:ph sz="quarter" idx="13"/>
          </p:nvPr>
        </p:nvSpPr>
        <p:spPr>
          <a:xfrm>
            <a:off x="228600" y="1266827"/>
            <a:ext cx="3105150" cy="742948"/>
          </a:xfrm>
        </p:spPr>
        <p:txBody>
          <a:bodyPr>
            <a:normAutofit fontScale="70000" lnSpcReduction="20000"/>
          </a:bodyPr>
          <a:lstStyle/>
          <a:p>
            <a:pPr marL="0" indent="0" algn="ctr">
              <a:buNone/>
            </a:pPr>
            <a:r>
              <a:rPr lang="en-US" dirty="0">
                <a:latin typeface="+mj-lt"/>
              </a:rPr>
              <a:t>3. a) </a:t>
            </a:r>
            <a:r>
              <a:rPr lang="en-US" b="0" i="0" u="none" strike="noStrike" baseline="0" dirty="0">
                <a:latin typeface="+mj-lt"/>
              </a:rPr>
              <a:t>For each route, calculate:  Average delivery time (in days). </a:t>
            </a:r>
          </a:p>
          <a:p>
            <a:endParaRPr lang="en-US" sz="1800" b="0" i="0" u="none" strike="noStrike" baseline="0" dirty="0">
              <a:latin typeface="+mj-lt"/>
            </a:endParaRPr>
          </a:p>
          <a:p>
            <a:pPr marL="0" indent="0">
              <a:buNone/>
            </a:pPr>
            <a:endParaRPr lang="en-US" dirty="0"/>
          </a:p>
        </p:txBody>
      </p:sp>
      <p:sp>
        <p:nvSpPr>
          <p:cNvPr id="4" name="Content Placeholder 2">
            <a:extLst>
              <a:ext uri="{FF2B5EF4-FFF2-40B4-BE49-F238E27FC236}">
                <a16:creationId xmlns:a16="http://schemas.microsoft.com/office/drawing/2014/main" id="{66DBB330-2D3F-4539-967A-95DEBD098A2B}"/>
              </a:ext>
            </a:extLst>
          </p:cNvPr>
          <p:cNvSpPr txBox="1">
            <a:spLocks/>
          </p:cNvSpPr>
          <p:nvPr/>
        </p:nvSpPr>
        <p:spPr>
          <a:xfrm>
            <a:off x="8553450" y="1219203"/>
            <a:ext cx="3429002" cy="74294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None/>
            </a:pPr>
            <a:r>
              <a:rPr lang="en-US" sz="2200" dirty="0">
                <a:latin typeface="+mj-lt"/>
              </a:rPr>
              <a:t>3. A) For each route, calculate: Distance-to-time efficiency ratio: </a:t>
            </a:r>
            <a:r>
              <a:rPr lang="en-US" sz="2200" cap="none" dirty="0">
                <a:latin typeface="+mj-lt"/>
              </a:rPr>
              <a:t>distance_km / average_travel_time_min </a:t>
            </a:r>
            <a:endParaRPr lang="en-US" sz="2200" dirty="0">
              <a:latin typeface="+mj-lt"/>
            </a:endParaRPr>
          </a:p>
          <a:p>
            <a:endParaRPr lang="en-US" sz="1800" b="0" i="0" u="none" strike="noStrike" baseline="0" dirty="0"/>
          </a:p>
          <a:p>
            <a:pPr marL="0" indent="0" algn="ctr">
              <a:buFont typeface="Arial" panose="020B0604020202020204" pitchFamily="34" charset="0"/>
              <a:buNone/>
            </a:pPr>
            <a:endParaRPr lang="en-US" dirty="0">
              <a:latin typeface="+mj-lt"/>
            </a:endParaRPr>
          </a:p>
          <a:p>
            <a:endParaRPr lang="en-US" sz="1800" dirty="0">
              <a:latin typeface="Arial" panose="020B0604020202020204" pitchFamily="34" charset="0"/>
            </a:endParaRPr>
          </a:p>
          <a:p>
            <a:pPr marL="0" indent="0">
              <a:buFont typeface="Arial" panose="020B0604020202020204" pitchFamily="34" charset="0"/>
              <a:buNone/>
            </a:pPr>
            <a:endParaRPr lang="en-US" dirty="0"/>
          </a:p>
        </p:txBody>
      </p:sp>
      <p:sp>
        <p:nvSpPr>
          <p:cNvPr id="5" name="Content Placeholder 2">
            <a:extLst>
              <a:ext uri="{FF2B5EF4-FFF2-40B4-BE49-F238E27FC236}">
                <a16:creationId xmlns:a16="http://schemas.microsoft.com/office/drawing/2014/main" id="{60CEC9D8-6A48-45EE-8A6E-452BEF8DAA23}"/>
              </a:ext>
            </a:extLst>
          </p:cNvPr>
          <p:cNvSpPr txBox="1">
            <a:spLocks/>
          </p:cNvSpPr>
          <p:nvPr/>
        </p:nvSpPr>
        <p:spPr>
          <a:xfrm>
            <a:off x="4543425" y="1266827"/>
            <a:ext cx="3105150" cy="74294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None/>
            </a:pPr>
            <a:r>
              <a:rPr lang="en-US" dirty="0">
                <a:latin typeface="+mj-lt"/>
              </a:rPr>
              <a:t>3. A) For each route, calculate:  Average traffic delay. </a:t>
            </a:r>
          </a:p>
          <a:p>
            <a:pPr algn="ctr"/>
            <a:endParaRPr lang="en-US" dirty="0">
              <a:latin typeface="+mj-lt"/>
            </a:endParaRPr>
          </a:p>
          <a:p>
            <a:pPr marL="0" indent="0" algn="ctr">
              <a:buFont typeface="Arial" panose="020B0604020202020204" pitchFamily="34" charset="0"/>
              <a:buNone/>
            </a:pPr>
            <a:endParaRPr lang="en-US" dirty="0">
              <a:latin typeface="Arial" panose="020B0604020202020204" pitchFamily="34" charset="0"/>
            </a:endParaRPr>
          </a:p>
          <a:p>
            <a:endParaRPr lang="en-US" sz="1800" dirty="0">
              <a:latin typeface="Arial" panose="020B0604020202020204" pitchFamily="34" charset="0"/>
            </a:endParaRPr>
          </a:p>
          <a:p>
            <a:pPr marL="0" indent="0">
              <a:buFont typeface="Arial" panose="020B0604020202020204" pitchFamily="34" charset="0"/>
              <a:buNone/>
            </a:pPr>
            <a:endParaRPr lang="en-US" dirty="0"/>
          </a:p>
        </p:txBody>
      </p:sp>
      <p:pic>
        <p:nvPicPr>
          <p:cNvPr id="6" name="Picture 5">
            <a:extLst>
              <a:ext uri="{FF2B5EF4-FFF2-40B4-BE49-F238E27FC236}">
                <a16:creationId xmlns:a16="http://schemas.microsoft.com/office/drawing/2014/main" id="{E1EFACF8-128F-4BB2-AA8A-2F54A238EEBE}"/>
              </a:ext>
            </a:extLst>
          </p:cNvPr>
          <p:cNvPicPr/>
          <p:nvPr/>
        </p:nvPicPr>
        <p:blipFill rotWithShape="1">
          <a:blip r:embed="rId2"/>
          <a:srcRect r="38301"/>
          <a:stretch/>
        </p:blipFill>
        <p:spPr>
          <a:xfrm>
            <a:off x="228600" y="2009775"/>
            <a:ext cx="3667125" cy="4057650"/>
          </a:xfrm>
          <a:prstGeom prst="rect">
            <a:avLst/>
          </a:prstGeom>
        </p:spPr>
      </p:pic>
      <p:pic>
        <p:nvPicPr>
          <p:cNvPr id="8" name="Picture 7">
            <a:extLst>
              <a:ext uri="{FF2B5EF4-FFF2-40B4-BE49-F238E27FC236}">
                <a16:creationId xmlns:a16="http://schemas.microsoft.com/office/drawing/2014/main" id="{ABEB5DCC-552F-4F63-B4F2-DB509C762FF9}"/>
              </a:ext>
            </a:extLst>
          </p:cNvPr>
          <p:cNvPicPr/>
          <p:nvPr/>
        </p:nvPicPr>
        <p:blipFill rotWithShape="1">
          <a:blip r:embed="rId3"/>
          <a:srcRect r="41506"/>
          <a:stretch/>
        </p:blipFill>
        <p:spPr>
          <a:xfrm>
            <a:off x="8296275" y="2079942"/>
            <a:ext cx="3686178" cy="3987483"/>
          </a:xfrm>
          <a:prstGeom prst="rect">
            <a:avLst/>
          </a:prstGeom>
        </p:spPr>
      </p:pic>
      <p:pic>
        <p:nvPicPr>
          <p:cNvPr id="10" name="Picture 9">
            <a:extLst>
              <a:ext uri="{FF2B5EF4-FFF2-40B4-BE49-F238E27FC236}">
                <a16:creationId xmlns:a16="http://schemas.microsoft.com/office/drawing/2014/main" id="{1167AF9F-379B-4F1B-A666-1C8DEB271640}"/>
              </a:ext>
            </a:extLst>
          </p:cNvPr>
          <p:cNvPicPr>
            <a:picLocks noChangeAspect="1"/>
          </p:cNvPicPr>
          <p:nvPr/>
        </p:nvPicPr>
        <p:blipFill rotWithShape="1">
          <a:blip r:embed="rId4"/>
          <a:srcRect r="15363"/>
          <a:stretch/>
        </p:blipFill>
        <p:spPr>
          <a:xfrm>
            <a:off x="4235094" y="2009775"/>
            <a:ext cx="3721811" cy="4057650"/>
          </a:xfrm>
          <a:prstGeom prst="rect">
            <a:avLst/>
          </a:prstGeom>
        </p:spPr>
      </p:pic>
    </p:spTree>
    <p:extLst>
      <p:ext uri="{BB962C8B-B14F-4D97-AF65-F5344CB8AC3E}">
        <p14:creationId xmlns:p14="http://schemas.microsoft.com/office/powerpoint/2010/main" val="2619968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6541-6E58-49A1-B7F9-34D443D9FF7C}"/>
              </a:ext>
            </a:extLst>
          </p:cNvPr>
          <p:cNvSpPr>
            <a:spLocks noGrp="1"/>
          </p:cNvSpPr>
          <p:nvPr>
            <p:ph type="title"/>
          </p:nvPr>
        </p:nvSpPr>
        <p:spPr>
          <a:xfrm>
            <a:off x="6096000" y="723900"/>
            <a:ext cx="5572124" cy="1200149"/>
          </a:xfrm>
        </p:spPr>
        <p:txBody>
          <a:bodyPr>
            <a:normAutofit fontScale="90000"/>
          </a:bodyPr>
          <a:lstStyle/>
          <a:p>
            <a:r>
              <a:rPr lang="en-US" sz="2200" dirty="0"/>
              <a:t>3. c)</a:t>
            </a:r>
            <a:r>
              <a:rPr lang="en-US" sz="2200" b="0" i="0" u="none" strike="noStrike" baseline="0" dirty="0"/>
              <a:t> Find routes with &gt;20% delayed shipments. </a:t>
            </a:r>
            <a:br>
              <a:rPr lang="en-US" sz="1800" b="0" i="0" u="none" strike="noStrike" baseline="0" dirty="0"/>
            </a:br>
            <a:br>
              <a:rPr lang="en-US" sz="2000" b="0" i="0" u="none" strike="noStrike" baseline="0" dirty="0"/>
            </a:br>
            <a:endParaRPr lang="en-US" sz="2000" dirty="0"/>
          </a:p>
        </p:txBody>
      </p:sp>
      <p:pic>
        <p:nvPicPr>
          <p:cNvPr id="4" name="Content Placeholder 3">
            <a:extLst>
              <a:ext uri="{FF2B5EF4-FFF2-40B4-BE49-F238E27FC236}">
                <a16:creationId xmlns:a16="http://schemas.microsoft.com/office/drawing/2014/main" id="{09DBF4EA-FDF0-4140-A1CC-7B589353A797}"/>
              </a:ext>
            </a:extLst>
          </p:cNvPr>
          <p:cNvPicPr>
            <a:picLocks noGrp="1"/>
          </p:cNvPicPr>
          <p:nvPr>
            <p:ph sz="quarter" idx="13"/>
          </p:nvPr>
        </p:nvPicPr>
        <p:blipFill rotWithShape="1">
          <a:blip r:embed="rId2"/>
          <a:srcRect r="36118"/>
          <a:stretch/>
        </p:blipFill>
        <p:spPr>
          <a:xfrm>
            <a:off x="381268" y="1647826"/>
            <a:ext cx="5572124" cy="4638673"/>
          </a:xfrm>
          <a:prstGeom prst="rect">
            <a:avLst/>
          </a:prstGeom>
        </p:spPr>
      </p:pic>
      <p:sp>
        <p:nvSpPr>
          <p:cNvPr id="5" name="Title 1">
            <a:extLst>
              <a:ext uri="{FF2B5EF4-FFF2-40B4-BE49-F238E27FC236}">
                <a16:creationId xmlns:a16="http://schemas.microsoft.com/office/drawing/2014/main" id="{97937D3C-3CC2-44C0-BAC9-E38D7B18E044}"/>
              </a:ext>
            </a:extLst>
          </p:cNvPr>
          <p:cNvSpPr txBox="1">
            <a:spLocks/>
          </p:cNvSpPr>
          <p:nvPr/>
        </p:nvSpPr>
        <p:spPr>
          <a:xfrm>
            <a:off x="342900" y="723901"/>
            <a:ext cx="5572124" cy="107632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000" dirty="0"/>
              <a:t>3. b) Identify 3 routes with the worst efficiency ratio. </a:t>
            </a:r>
            <a:br>
              <a:rPr lang="en-US" sz="2000" dirty="0"/>
            </a:br>
            <a:endParaRPr lang="en-US" sz="2000" dirty="0"/>
          </a:p>
        </p:txBody>
      </p:sp>
      <p:pic>
        <p:nvPicPr>
          <p:cNvPr id="6" name="Picture 5">
            <a:extLst>
              <a:ext uri="{FF2B5EF4-FFF2-40B4-BE49-F238E27FC236}">
                <a16:creationId xmlns:a16="http://schemas.microsoft.com/office/drawing/2014/main" id="{A23AA763-EB91-44E2-89EA-81C815E5AEFC}"/>
              </a:ext>
            </a:extLst>
          </p:cNvPr>
          <p:cNvPicPr/>
          <p:nvPr/>
        </p:nvPicPr>
        <p:blipFill rotWithShape="1">
          <a:blip r:embed="rId3"/>
          <a:srcRect r="37981"/>
          <a:stretch/>
        </p:blipFill>
        <p:spPr>
          <a:xfrm>
            <a:off x="6238608" y="1647826"/>
            <a:ext cx="5572124" cy="4638673"/>
          </a:xfrm>
          <a:prstGeom prst="rect">
            <a:avLst/>
          </a:prstGeom>
        </p:spPr>
      </p:pic>
    </p:spTree>
    <p:extLst>
      <p:ext uri="{BB962C8B-B14F-4D97-AF65-F5344CB8AC3E}">
        <p14:creationId xmlns:p14="http://schemas.microsoft.com/office/powerpoint/2010/main" val="951663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630FE-AD3E-4831-A6E2-B4A788B7AF82}"/>
              </a:ext>
            </a:extLst>
          </p:cNvPr>
          <p:cNvSpPr>
            <a:spLocks noGrp="1"/>
          </p:cNvSpPr>
          <p:nvPr>
            <p:ph type="title"/>
          </p:nvPr>
        </p:nvSpPr>
        <p:spPr>
          <a:xfrm>
            <a:off x="913775" y="618517"/>
            <a:ext cx="10364451" cy="1134083"/>
          </a:xfrm>
        </p:spPr>
        <p:txBody>
          <a:bodyPr/>
          <a:lstStyle/>
          <a:p>
            <a:r>
              <a:rPr lang="en-US" sz="2000" dirty="0"/>
              <a:t>3. d) </a:t>
            </a:r>
            <a:r>
              <a:rPr lang="en-US" sz="2000" b="0" i="0" u="none" strike="noStrike" baseline="0" dirty="0"/>
              <a:t>Recommend potential routes for optimization. </a:t>
            </a:r>
            <a:br>
              <a:rPr lang="en-US" sz="1800" b="0" i="0" u="none" strike="noStrike" baseline="0" dirty="0"/>
            </a:br>
            <a:endParaRPr lang="en-US" dirty="0"/>
          </a:p>
        </p:txBody>
      </p:sp>
      <p:pic>
        <p:nvPicPr>
          <p:cNvPr id="4" name="Content Placeholder 3">
            <a:extLst>
              <a:ext uri="{FF2B5EF4-FFF2-40B4-BE49-F238E27FC236}">
                <a16:creationId xmlns:a16="http://schemas.microsoft.com/office/drawing/2014/main" id="{DDA9875A-5426-4774-9213-1DB9CE612CA5}"/>
              </a:ext>
            </a:extLst>
          </p:cNvPr>
          <p:cNvPicPr>
            <a:picLocks noGrp="1"/>
          </p:cNvPicPr>
          <p:nvPr>
            <p:ph sz="quarter" idx="13"/>
          </p:nvPr>
        </p:nvPicPr>
        <p:blipFill>
          <a:blip r:embed="rId2"/>
          <a:stretch>
            <a:fillRect/>
          </a:stretch>
        </p:blipFill>
        <p:spPr>
          <a:xfrm>
            <a:off x="913774" y="1488141"/>
            <a:ext cx="10364451" cy="4751342"/>
          </a:xfrm>
          <a:prstGeom prst="rect">
            <a:avLst/>
          </a:prstGeom>
        </p:spPr>
      </p:pic>
    </p:spTree>
    <p:extLst>
      <p:ext uri="{BB962C8B-B14F-4D97-AF65-F5344CB8AC3E}">
        <p14:creationId xmlns:p14="http://schemas.microsoft.com/office/powerpoint/2010/main" val="1746943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D3D26-07C0-4389-8A4D-2906CEFC3393}"/>
              </a:ext>
            </a:extLst>
          </p:cNvPr>
          <p:cNvSpPr>
            <a:spLocks noGrp="1"/>
          </p:cNvSpPr>
          <p:nvPr>
            <p:ph type="title"/>
          </p:nvPr>
        </p:nvSpPr>
        <p:spPr>
          <a:xfrm>
            <a:off x="913775" y="618518"/>
            <a:ext cx="10364451" cy="448284"/>
          </a:xfrm>
        </p:spPr>
        <p:txBody>
          <a:bodyPr>
            <a:normAutofit/>
          </a:bodyPr>
          <a:lstStyle/>
          <a:p>
            <a:r>
              <a:rPr lang="en-US" sz="2500" b="1" dirty="0"/>
              <a:t>Task 4: Warehouse Performance </a:t>
            </a:r>
          </a:p>
        </p:txBody>
      </p:sp>
      <p:sp>
        <p:nvSpPr>
          <p:cNvPr id="3" name="Content Placeholder 2">
            <a:extLst>
              <a:ext uri="{FF2B5EF4-FFF2-40B4-BE49-F238E27FC236}">
                <a16:creationId xmlns:a16="http://schemas.microsoft.com/office/drawing/2014/main" id="{D6BD8AF3-E0B7-4105-942C-49DC47761E67}"/>
              </a:ext>
            </a:extLst>
          </p:cNvPr>
          <p:cNvSpPr>
            <a:spLocks noGrp="1"/>
          </p:cNvSpPr>
          <p:nvPr>
            <p:ph sz="quarter" idx="13"/>
          </p:nvPr>
        </p:nvSpPr>
        <p:spPr>
          <a:xfrm>
            <a:off x="6353175" y="1314452"/>
            <a:ext cx="5172075" cy="762000"/>
          </a:xfrm>
        </p:spPr>
        <p:txBody>
          <a:bodyPr>
            <a:normAutofit lnSpcReduction="10000"/>
          </a:bodyPr>
          <a:lstStyle/>
          <a:p>
            <a:pPr marL="0" indent="0" algn="ctr">
              <a:buNone/>
            </a:pPr>
            <a:r>
              <a:rPr lang="en-US" dirty="0"/>
              <a:t>4. b)</a:t>
            </a:r>
            <a:r>
              <a:rPr lang="en-US" sz="1800" b="0" i="0" u="none" strike="noStrike" baseline="0" dirty="0"/>
              <a:t> Calculate total vs. delayed shipments for each warehouse </a:t>
            </a:r>
          </a:p>
          <a:p>
            <a:pPr marL="0" indent="0">
              <a:buNone/>
            </a:pPr>
            <a:endParaRPr lang="en-US" dirty="0"/>
          </a:p>
        </p:txBody>
      </p:sp>
      <p:sp>
        <p:nvSpPr>
          <p:cNvPr id="4" name="Content Placeholder 2">
            <a:extLst>
              <a:ext uri="{FF2B5EF4-FFF2-40B4-BE49-F238E27FC236}">
                <a16:creationId xmlns:a16="http://schemas.microsoft.com/office/drawing/2014/main" id="{D8CF87D3-4FDF-49D3-B4B2-02A451B42BD4}"/>
              </a:ext>
            </a:extLst>
          </p:cNvPr>
          <p:cNvSpPr txBox="1">
            <a:spLocks/>
          </p:cNvSpPr>
          <p:nvPr/>
        </p:nvSpPr>
        <p:spPr>
          <a:xfrm>
            <a:off x="419100" y="1343026"/>
            <a:ext cx="5172075" cy="7620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Font typeface="Arial" panose="020B0604020202020204" pitchFamily="34" charset="0"/>
              <a:buNone/>
            </a:pPr>
            <a:r>
              <a:rPr lang="en-US"/>
              <a:t>4. a) Find the top 3 warehouses with the highest average processing time </a:t>
            </a:r>
          </a:p>
          <a:p>
            <a:pPr marL="0" indent="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97CC067E-FDBA-4501-9830-A573794FF348}"/>
              </a:ext>
            </a:extLst>
          </p:cNvPr>
          <p:cNvPicPr/>
          <p:nvPr/>
        </p:nvPicPr>
        <p:blipFill rotWithShape="1">
          <a:blip r:embed="rId2"/>
          <a:srcRect r="38141"/>
          <a:stretch/>
        </p:blipFill>
        <p:spPr>
          <a:xfrm>
            <a:off x="419099" y="2190750"/>
            <a:ext cx="5362575" cy="4048732"/>
          </a:xfrm>
          <a:prstGeom prst="rect">
            <a:avLst/>
          </a:prstGeom>
        </p:spPr>
      </p:pic>
      <p:pic>
        <p:nvPicPr>
          <p:cNvPr id="6" name="Picture 5">
            <a:extLst>
              <a:ext uri="{FF2B5EF4-FFF2-40B4-BE49-F238E27FC236}">
                <a16:creationId xmlns:a16="http://schemas.microsoft.com/office/drawing/2014/main" id="{79E87008-1089-4A40-80EC-D13A1B2C737C}"/>
              </a:ext>
            </a:extLst>
          </p:cNvPr>
          <p:cNvPicPr/>
          <p:nvPr/>
        </p:nvPicPr>
        <p:blipFill rotWithShape="1">
          <a:blip r:embed="rId3"/>
          <a:srcRect r="41506"/>
          <a:stretch/>
        </p:blipFill>
        <p:spPr>
          <a:xfrm>
            <a:off x="6096000" y="2190750"/>
            <a:ext cx="5676901" cy="4048732"/>
          </a:xfrm>
          <a:prstGeom prst="rect">
            <a:avLst/>
          </a:prstGeom>
        </p:spPr>
      </p:pic>
    </p:spTree>
    <p:extLst>
      <p:ext uri="{BB962C8B-B14F-4D97-AF65-F5344CB8AC3E}">
        <p14:creationId xmlns:p14="http://schemas.microsoft.com/office/powerpoint/2010/main" val="340723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69EE8-F913-4BB7-8830-0368094ADF0C}"/>
              </a:ext>
            </a:extLst>
          </p:cNvPr>
          <p:cNvSpPr>
            <a:spLocks noGrp="1"/>
          </p:cNvSpPr>
          <p:nvPr>
            <p:ph type="title"/>
          </p:nvPr>
        </p:nvSpPr>
        <p:spPr>
          <a:xfrm>
            <a:off x="6581774" y="695325"/>
            <a:ext cx="5029200" cy="1428749"/>
          </a:xfrm>
        </p:spPr>
        <p:txBody>
          <a:bodyPr>
            <a:normAutofit/>
          </a:bodyPr>
          <a:lstStyle/>
          <a:p>
            <a:r>
              <a:rPr lang="en-US" sz="2000" dirty="0"/>
              <a:t>4. d) </a:t>
            </a:r>
            <a:r>
              <a:rPr lang="en-US" sz="2000" b="0" i="0" u="none" strike="noStrike" baseline="0" dirty="0"/>
              <a:t>Rank warehouses based on on-time delivery percentage. </a:t>
            </a:r>
            <a:br>
              <a:rPr lang="en-US" sz="1800" b="0" i="0" u="none" strike="noStrike" baseline="0" dirty="0"/>
            </a:br>
            <a:br>
              <a:rPr lang="en-US" sz="1800" b="0" i="0" u="none" strike="noStrike" baseline="0" dirty="0"/>
            </a:br>
            <a:endParaRPr lang="en-US" dirty="0"/>
          </a:p>
        </p:txBody>
      </p:sp>
      <p:sp>
        <p:nvSpPr>
          <p:cNvPr id="4" name="Title 1">
            <a:extLst>
              <a:ext uri="{FF2B5EF4-FFF2-40B4-BE49-F238E27FC236}">
                <a16:creationId xmlns:a16="http://schemas.microsoft.com/office/drawing/2014/main" id="{697928D3-0C33-4BC1-93E9-28A3FCE3FD2D}"/>
              </a:ext>
            </a:extLst>
          </p:cNvPr>
          <p:cNvSpPr txBox="1">
            <a:spLocks/>
          </p:cNvSpPr>
          <p:nvPr/>
        </p:nvSpPr>
        <p:spPr>
          <a:xfrm>
            <a:off x="581026" y="695326"/>
            <a:ext cx="5029200" cy="1428749"/>
          </a:xfrm>
          <a:prstGeom prst="rect">
            <a:avLst/>
          </a:prstGeom>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200" dirty="0"/>
              <a:t>4. c) Use CTEs to find bottleneck warehouses where processing time &gt; global average.</a:t>
            </a:r>
            <a:r>
              <a:rPr lang="en-US" sz="2500" dirty="0"/>
              <a:t> </a:t>
            </a:r>
            <a:br>
              <a:rPr lang="en-US" sz="1800" dirty="0"/>
            </a:br>
            <a:endParaRPr lang="en-US" dirty="0"/>
          </a:p>
        </p:txBody>
      </p:sp>
      <p:pic>
        <p:nvPicPr>
          <p:cNvPr id="5" name="Picture 4">
            <a:extLst>
              <a:ext uri="{FF2B5EF4-FFF2-40B4-BE49-F238E27FC236}">
                <a16:creationId xmlns:a16="http://schemas.microsoft.com/office/drawing/2014/main" id="{F98BFE74-DB4B-4497-BD45-A02B02A410CC}"/>
              </a:ext>
            </a:extLst>
          </p:cNvPr>
          <p:cNvPicPr/>
          <p:nvPr/>
        </p:nvPicPr>
        <p:blipFill rotWithShape="1">
          <a:blip r:embed="rId2"/>
          <a:srcRect r="40705"/>
          <a:stretch/>
        </p:blipFill>
        <p:spPr>
          <a:xfrm>
            <a:off x="581025" y="1736090"/>
            <a:ext cx="5200649" cy="4426584"/>
          </a:xfrm>
          <a:prstGeom prst="rect">
            <a:avLst/>
          </a:prstGeom>
        </p:spPr>
      </p:pic>
      <p:pic>
        <p:nvPicPr>
          <p:cNvPr id="6" name="Picture 5">
            <a:extLst>
              <a:ext uri="{FF2B5EF4-FFF2-40B4-BE49-F238E27FC236}">
                <a16:creationId xmlns:a16="http://schemas.microsoft.com/office/drawing/2014/main" id="{F024195D-8BCA-47FF-BF48-D44109DAE419}"/>
              </a:ext>
            </a:extLst>
          </p:cNvPr>
          <p:cNvPicPr/>
          <p:nvPr/>
        </p:nvPicPr>
        <p:blipFill rotWithShape="1">
          <a:blip r:embed="rId3"/>
          <a:srcRect r="41827"/>
          <a:stretch/>
        </p:blipFill>
        <p:spPr>
          <a:xfrm>
            <a:off x="6410325" y="1736089"/>
            <a:ext cx="5391149" cy="4426583"/>
          </a:xfrm>
          <a:prstGeom prst="rect">
            <a:avLst/>
          </a:prstGeom>
        </p:spPr>
      </p:pic>
    </p:spTree>
    <p:extLst>
      <p:ext uri="{BB962C8B-B14F-4D97-AF65-F5344CB8AC3E}">
        <p14:creationId xmlns:p14="http://schemas.microsoft.com/office/powerpoint/2010/main" val="3573124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E57C-BAC0-490E-B10E-4AABF0E578E3}"/>
              </a:ext>
            </a:extLst>
          </p:cNvPr>
          <p:cNvSpPr>
            <a:spLocks noGrp="1"/>
          </p:cNvSpPr>
          <p:nvPr>
            <p:ph type="title"/>
          </p:nvPr>
        </p:nvSpPr>
        <p:spPr>
          <a:xfrm>
            <a:off x="913775" y="333375"/>
            <a:ext cx="10364451" cy="733425"/>
          </a:xfrm>
        </p:spPr>
        <p:txBody>
          <a:bodyPr>
            <a:normAutofit/>
          </a:bodyPr>
          <a:lstStyle/>
          <a:p>
            <a:br>
              <a:rPr lang="en-US" sz="1800" b="0" i="0" u="none" strike="noStrike" baseline="0" dirty="0">
                <a:solidFill>
                  <a:srgbClr val="000000"/>
                </a:solidFill>
                <a:latin typeface="Arial" panose="020B0604020202020204" pitchFamily="34" charset="0"/>
              </a:rPr>
            </a:br>
            <a:r>
              <a:rPr lang="en-US" sz="2500" b="1" dirty="0"/>
              <a:t>Task 5: Delivery Agent Performance </a:t>
            </a:r>
          </a:p>
        </p:txBody>
      </p:sp>
      <p:sp>
        <p:nvSpPr>
          <p:cNvPr id="3" name="Content Placeholder 2">
            <a:extLst>
              <a:ext uri="{FF2B5EF4-FFF2-40B4-BE49-F238E27FC236}">
                <a16:creationId xmlns:a16="http://schemas.microsoft.com/office/drawing/2014/main" id="{F7AC766C-3CEE-4FB1-9208-96CA8F83033D}"/>
              </a:ext>
            </a:extLst>
          </p:cNvPr>
          <p:cNvSpPr>
            <a:spLocks noGrp="1"/>
          </p:cNvSpPr>
          <p:nvPr>
            <p:ph sz="quarter" idx="13"/>
          </p:nvPr>
        </p:nvSpPr>
        <p:spPr>
          <a:xfrm>
            <a:off x="6905625" y="1352549"/>
            <a:ext cx="4372601" cy="825875"/>
          </a:xfrm>
        </p:spPr>
        <p:txBody>
          <a:bodyPr>
            <a:normAutofit/>
          </a:bodyPr>
          <a:lstStyle/>
          <a:p>
            <a:pPr marL="0" indent="0" algn="ctr">
              <a:buNone/>
            </a:pPr>
            <a:r>
              <a:rPr lang="en-US" dirty="0"/>
              <a:t>5. b) </a:t>
            </a:r>
            <a:r>
              <a:rPr lang="en-US" sz="1800" b="0" i="0" u="none" strike="noStrike" baseline="0" dirty="0"/>
              <a:t>Find agents with on-time % &lt; 80% </a:t>
            </a:r>
          </a:p>
          <a:p>
            <a:pPr marL="0" indent="0" algn="ctr">
              <a:buNone/>
            </a:pPr>
            <a:endParaRPr lang="en-US" sz="1800" b="0" i="0" u="none" strike="noStrike" baseline="0" dirty="0"/>
          </a:p>
          <a:p>
            <a:pPr marL="0" indent="0" algn="ctr">
              <a:buNone/>
            </a:pPr>
            <a:endParaRPr lang="en-US" dirty="0"/>
          </a:p>
        </p:txBody>
      </p:sp>
      <p:sp>
        <p:nvSpPr>
          <p:cNvPr id="4" name="Content Placeholder 2">
            <a:extLst>
              <a:ext uri="{FF2B5EF4-FFF2-40B4-BE49-F238E27FC236}">
                <a16:creationId xmlns:a16="http://schemas.microsoft.com/office/drawing/2014/main" id="{A1461E2D-9B05-4B4A-9411-3180CA681CCB}"/>
              </a:ext>
            </a:extLst>
          </p:cNvPr>
          <p:cNvSpPr txBox="1">
            <a:spLocks/>
          </p:cNvSpPr>
          <p:nvPr/>
        </p:nvSpPr>
        <p:spPr>
          <a:xfrm>
            <a:off x="1066174" y="1352551"/>
            <a:ext cx="4372601" cy="82587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Font typeface="Arial" panose="020B0604020202020204" pitchFamily="34" charset="0"/>
              <a:buNone/>
            </a:pPr>
            <a:r>
              <a:rPr lang="en-US" dirty="0"/>
              <a:t>5. a) </a:t>
            </a:r>
            <a:r>
              <a:rPr lang="en-US" sz="1800" dirty="0"/>
              <a:t>Rank agents (per route) by on-time delivery percentage </a:t>
            </a:r>
          </a:p>
          <a:p>
            <a:pPr marL="0" indent="0" algn="ctr">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875128BE-E94E-4657-8B0B-7A8F031087AC}"/>
              </a:ext>
            </a:extLst>
          </p:cNvPr>
          <p:cNvPicPr/>
          <p:nvPr/>
        </p:nvPicPr>
        <p:blipFill rotWithShape="1">
          <a:blip r:embed="rId2"/>
          <a:srcRect r="40950"/>
          <a:stretch/>
        </p:blipFill>
        <p:spPr>
          <a:xfrm>
            <a:off x="515468" y="2293171"/>
            <a:ext cx="5356414" cy="4231454"/>
          </a:xfrm>
          <a:prstGeom prst="rect">
            <a:avLst/>
          </a:prstGeom>
        </p:spPr>
      </p:pic>
      <p:pic>
        <p:nvPicPr>
          <p:cNvPr id="6" name="Picture 5">
            <a:extLst>
              <a:ext uri="{FF2B5EF4-FFF2-40B4-BE49-F238E27FC236}">
                <a16:creationId xmlns:a16="http://schemas.microsoft.com/office/drawing/2014/main" id="{0DE9B9D2-833C-44FF-8322-C99E5DE02D65}"/>
              </a:ext>
            </a:extLst>
          </p:cNvPr>
          <p:cNvPicPr/>
          <p:nvPr/>
        </p:nvPicPr>
        <p:blipFill rotWithShape="1">
          <a:blip r:embed="rId3"/>
          <a:srcRect r="38942"/>
          <a:stretch/>
        </p:blipFill>
        <p:spPr>
          <a:xfrm>
            <a:off x="6239435" y="2293171"/>
            <a:ext cx="5549154" cy="4231454"/>
          </a:xfrm>
          <a:prstGeom prst="rect">
            <a:avLst/>
          </a:prstGeom>
        </p:spPr>
      </p:pic>
    </p:spTree>
    <p:extLst>
      <p:ext uri="{BB962C8B-B14F-4D97-AF65-F5344CB8AC3E}">
        <p14:creationId xmlns:p14="http://schemas.microsoft.com/office/powerpoint/2010/main" val="1367448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5A3DE51-3EF1-4932-98FB-63D79168C6D2}"/>
              </a:ext>
            </a:extLst>
          </p:cNvPr>
          <p:cNvSpPr txBox="1">
            <a:spLocks noGrp="1"/>
          </p:cNvSpPr>
          <p:nvPr>
            <p:ph type="title"/>
          </p:nvPr>
        </p:nvSpPr>
        <p:spPr>
          <a:xfrm>
            <a:off x="914400" y="619125"/>
            <a:ext cx="10363200" cy="79729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lgn="ctr">
              <a:buNone/>
            </a:pPr>
            <a:r>
              <a:rPr lang="en-US" dirty="0"/>
              <a:t>5. c) </a:t>
            </a:r>
            <a:r>
              <a:rPr lang="en-US" sz="1800" b="0" i="0" u="none" strike="noStrike" baseline="0" dirty="0"/>
              <a:t>Compare average speed of top 5 vs bottom 5 agents using subqueries </a:t>
            </a:r>
            <a:br>
              <a:rPr lang="en-US" sz="1800" b="0" i="0" u="none" strike="noStrike" baseline="0" dirty="0"/>
            </a:br>
            <a:endParaRPr lang="en-US" dirty="0"/>
          </a:p>
        </p:txBody>
      </p:sp>
      <p:pic>
        <p:nvPicPr>
          <p:cNvPr id="5" name="Picture 4">
            <a:extLst>
              <a:ext uri="{FF2B5EF4-FFF2-40B4-BE49-F238E27FC236}">
                <a16:creationId xmlns:a16="http://schemas.microsoft.com/office/drawing/2014/main" id="{94C7CB9B-713F-44A0-958D-9C09364CA6FD}"/>
              </a:ext>
            </a:extLst>
          </p:cNvPr>
          <p:cNvPicPr/>
          <p:nvPr/>
        </p:nvPicPr>
        <p:blipFill>
          <a:blip r:embed="rId2"/>
          <a:stretch>
            <a:fillRect/>
          </a:stretch>
        </p:blipFill>
        <p:spPr>
          <a:xfrm>
            <a:off x="1281953" y="1416424"/>
            <a:ext cx="9914965" cy="4822451"/>
          </a:xfrm>
          <a:prstGeom prst="rect">
            <a:avLst/>
          </a:prstGeom>
        </p:spPr>
      </p:pic>
    </p:spTree>
    <p:extLst>
      <p:ext uri="{BB962C8B-B14F-4D97-AF65-F5344CB8AC3E}">
        <p14:creationId xmlns:p14="http://schemas.microsoft.com/office/powerpoint/2010/main" val="2283830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021296-3170-4E3E-B4A4-110D25C709CA}"/>
              </a:ext>
            </a:extLst>
          </p:cNvPr>
          <p:cNvSpPr>
            <a:spLocks noGrp="1"/>
          </p:cNvSpPr>
          <p:nvPr>
            <p:ph type="title"/>
          </p:nvPr>
        </p:nvSpPr>
        <p:spPr>
          <a:xfrm>
            <a:off x="6849036" y="1694887"/>
            <a:ext cx="4473388" cy="716619"/>
          </a:xfrm>
        </p:spPr>
        <p:txBody>
          <a:bodyPr>
            <a:normAutofit fontScale="90000"/>
          </a:bodyPr>
          <a:lstStyle/>
          <a:p>
            <a:pPr algn="l"/>
            <a:r>
              <a:rPr lang="en-US" sz="2200" dirty="0"/>
              <a:t>6. b)</a:t>
            </a:r>
            <a:r>
              <a:rPr lang="en-US" sz="2200" b="0" i="0" u="none" strike="noStrike" baseline="0" dirty="0"/>
              <a:t> Find the most common delay reasons (excluding None) </a:t>
            </a:r>
            <a:br>
              <a:rPr lang="en-US" sz="2200" b="0" i="0" u="none" strike="noStrike" baseline="0" dirty="0"/>
            </a:br>
            <a:br>
              <a:rPr lang="en-US" sz="1800" b="0" i="0" u="none" strike="noStrike" baseline="0" dirty="0"/>
            </a:br>
            <a:endParaRPr lang="en-US" sz="2500" dirty="0"/>
          </a:p>
        </p:txBody>
      </p:sp>
      <p:sp>
        <p:nvSpPr>
          <p:cNvPr id="5" name="Title 1">
            <a:extLst>
              <a:ext uri="{FF2B5EF4-FFF2-40B4-BE49-F238E27FC236}">
                <a16:creationId xmlns:a16="http://schemas.microsoft.com/office/drawing/2014/main" id="{B7891CCE-1963-4ACB-8433-FC59BAF5F199}"/>
              </a:ext>
            </a:extLst>
          </p:cNvPr>
          <p:cNvSpPr txBox="1">
            <a:spLocks/>
          </p:cNvSpPr>
          <p:nvPr/>
        </p:nvSpPr>
        <p:spPr>
          <a:xfrm>
            <a:off x="1066800" y="771525"/>
            <a:ext cx="10363200" cy="44767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500" b="1" dirty="0"/>
              <a:t>Task 6: Shipment Tracking Analytics </a:t>
            </a:r>
          </a:p>
        </p:txBody>
      </p:sp>
      <p:sp>
        <p:nvSpPr>
          <p:cNvPr id="6" name="Title 1">
            <a:extLst>
              <a:ext uri="{FF2B5EF4-FFF2-40B4-BE49-F238E27FC236}">
                <a16:creationId xmlns:a16="http://schemas.microsoft.com/office/drawing/2014/main" id="{B82D9FC1-C1DB-4AEF-92C1-07A3F696676A}"/>
              </a:ext>
            </a:extLst>
          </p:cNvPr>
          <p:cNvSpPr txBox="1">
            <a:spLocks/>
          </p:cNvSpPr>
          <p:nvPr/>
        </p:nvSpPr>
        <p:spPr>
          <a:xfrm>
            <a:off x="1389530" y="1694887"/>
            <a:ext cx="4473388" cy="52835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000" dirty="0"/>
              <a:t>6. a) For each order, list the last checkpoint and time </a:t>
            </a:r>
            <a:br>
              <a:rPr lang="en-US" sz="2000" dirty="0"/>
            </a:br>
            <a:endParaRPr lang="en-US" sz="2000" dirty="0"/>
          </a:p>
        </p:txBody>
      </p:sp>
      <p:pic>
        <p:nvPicPr>
          <p:cNvPr id="7" name="Picture 6">
            <a:extLst>
              <a:ext uri="{FF2B5EF4-FFF2-40B4-BE49-F238E27FC236}">
                <a16:creationId xmlns:a16="http://schemas.microsoft.com/office/drawing/2014/main" id="{DEA896B1-81D6-4E8F-8282-56FF55EAA0E5}"/>
              </a:ext>
            </a:extLst>
          </p:cNvPr>
          <p:cNvPicPr/>
          <p:nvPr/>
        </p:nvPicPr>
        <p:blipFill rotWithShape="1">
          <a:blip r:embed="rId2"/>
          <a:srcRect r="42911"/>
          <a:stretch/>
        </p:blipFill>
        <p:spPr>
          <a:xfrm>
            <a:off x="564776" y="2223246"/>
            <a:ext cx="5450542" cy="3863229"/>
          </a:xfrm>
          <a:prstGeom prst="rect">
            <a:avLst/>
          </a:prstGeom>
        </p:spPr>
      </p:pic>
      <p:pic>
        <p:nvPicPr>
          <p:cNvPr id="8" name="Picture 7">
            <a:extLst>
              <a:ext uri="{FF2B5EF4-FFF2-40B4-BE49-F238E27FC236}">
                <a16:creationId xmlns:a16="http://schemas.microsoft.com/office/drawing/2014/main" id="{16A52F67-450E-4A24-8F9A-68EE7F751E14}"/>
              </a:ext>
            </a:extLst>
          </p:cNvPr>
          <p:cNvPicPr/>
          <p:nvPr/>
        </p:nvPicPr>
        <p:blipFill rotWithShape="1">
          <a:blip r:embed="rId3"/>
          <a:srcRect r="42609"/>
          <a:stretch/>
        </p:blipFill>
        <p:spPr>
          <a:xfrm>
            <a:off x="6329082" y="2223246"/>
            <a:ext cx="5450542" cy="3863229"/>
          </a:xfrm>
          <a:prstGeom prst="rect">
            <a:avLst/>
          </a:prstGeom>
        </p:spPr>
      </p:pic>
    </p:spTree>
    <p:extLst>
      <p:ext uri="{BB962C8B-B14F-4D97-AF65-F5344CB8AC3E}">
        <p14:creationId xmlns:p14="http://schemas.microsoft.com/office/powerpoint/2010/main" val="4021738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F2F9-1D87-44EB-BAF3-967BCDE871CB}"/>
              </a:ext>
            </a:extLst>
          </p:cNvPr>
          <p:cNvSpPr>
            <a:spLocks noGrp="1"/>
          </p:cNvSpPr>
          <p:nvPr>
            <p:ph type="title"/>
          </p:nvPr>
        </p:nvSpPr>
        <p:spPr>
          <a:xfrm>
            <a:off x="913775" y="618518"/>
            <a:ext cx="10364451" cy="735154"/>
          </a:xfrm>
        </p:spPr>
        <p:txBody>
          <a:bodyPr>
            <a:normAutofit/>
          </a:bodyPr>
          <a:lstStyle/>
          <a:p>
            <a:r>
              <a:rPr lang="en-US" sz="2000" dirty="0"/>
              <a:t>6. c)</a:t>
            </a:r>
            <a:r>
              <a:rPr lang="en-US" sz="2000" b="0" i="0" u="none" strike="noStrike" baseline="0" dirty="0"/>
              <a:t> Identify orders with &gt;2 delayed checkpoints </a:t>
            </a:r>
            <a:br>
              <a:rPr lang="en-US" sz="1800" b="0" i="0" u="none" strike="noStrike" baseline="0" dirty="0"/>
            </a:br>
            <a:endParaRPr lang="en-US" sz="2000" dirty="0"/>
          </a:p>
        </p:txBody>
      </p:sp>
      <p:pic>
        <p:nvPicPr>
          <p:cNvPr id="4" name="Picture 3">
            <a:extLst>
              <a:ext uri="{FF2B5EF4-FFF2-40B4-BE49-F238E27FC236}">
                <a16:creationId xmlns:a16="http://schemas.microsoft.com/office/drawing/2014/main" id="{1DB87EF3-4B96-425E-8D0C-32DD19CE5C7F}"/>
              </a:ext>
            </a:extLst>
          </p:cNvPr>
          <p:cNvPicPr/>
          <p:nvPr/>
        </p:nvPicPr>
        <p:blipFill>
          <a:blip r:embed="rId2"/>
          <a:stretch>
            <a:fillRect/>
          </a:stretch>
        </p:blipFill>
        <p:spPr>
          <a:xfrm>
            <a:off x="1344705" y="1353672"/>
            <a:ext cx="9690847" cy="4885809"/>
          </a:xfrm>
          <a:prstGeom prst="rect">
            <a:avLst/>
          </a:prstGeom>
        </p:spPr>
      </p:pic>
    </p:spTree>
    <p:extLst>
      <p:ext uri="{BB962C8B-B14F-4D97-AF65-F5344CB8AC3E}">
        <p14:creationId xmlns:p14="http://schemas.microsoft.com/office/powerpoint/2010/main" val="3960154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43E0F6-8F3F-4E9A-9E2C-7090A2C4BB63}"/>
              </a:ext>
            </a:extLst>
          </p:cNvPr>
          <p:cNvSpPr txBox="1">
            <a:spLocks noGrp="1"/>
          </p:cNvSpPr>
          <p:nvPr>
            <p:ph type="title"/>
          </p:nvPr>
        </p:nvSpPr>
        <p:spPr>
          <a:xfrm>
            <a:off x="914400" y="619125"/>
            <a:ext cx="10363200" cy="44767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500" b="1" dirty="0"/>
              <a:t>Task 7: Advanced KPI Reporting </a:t>
            </a:r>
          </a:p>
        </p:txBody>
      </p:sp>
      <p:sp>
        <p:nvSpPr>
          <p:cNvPr id="5" name="Title 1">
            <a:extLst>
              <a:ext uri="{FF2B5EF4-FFF2-40B4-BE49-F238E27FC236}">
                <a16:creationId xmlns:a16="http://schemas.microsoft.com/office/drawing/2014/main" id="{BFF5721D-CF26-4510-960A-5F2910C4BB1A}"/>
              </a:ext>
            </a:extLst>
          </p:cNvPr>
          <p:cNvSpPr txBox="1">
            <a:spLocks/>
          </p:cNvSpPr>
          <p:nvPr/>
        </p:nvSpPr>
        <p:spPr>
          <a:xfrm>
            <a:off x="7010400" y="1210236"/>
            <a:ext cx="4267200" cy="1030941"/>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000" dirty="0"/>
              <a:t>7. b) On-Time Delivery % = (Total On-Time Deliveries / Total Deliveries) * 100. </a:t>
            </a:r>
          </a:p>
        </p:txBody>
      </p:sp>
      <p:sp>
        <p:nvSpPr>
          <p:cNvPr id="6" name="Title 1">
            <a:extLst>
              <a:ext uri="{FF2B5EF4-FFF2-40B4-BE49-F238E27FC236}">
                <a16:creationId xmlns:a16="http://schemas.microsoft.com/office/drawing/2014/main" id="{7DBF21BF-6BCB-43E3-B86E-4F83D3C6A1FA}"/>
              </a:ext>
            </a:extLst>
          </p:cNvPr>
          <p:cNvSpPr txBox="1">
            <a:spLocks/>
          </p:cNvSpPr>
          <p:nvPr/>
        </p:nvSpPr>
        <p:spPr>
          <a:xfrm>
            <a:off x="623047" y="1425389"/>
            <a:ext cx="5195048" cy="93233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000" dirty="0"/>
              <a:t>7. a) Average Delivery Delay per Region (</a:t>
            </a:r>
            <a:r>
              <a:rPr lang="en-US" sz="2000" cap="none" dirty="0" err="1"/>
              <a:t>start_location</a:t>
            </a:r>
            <a:r>
              <a:rPr lang="en-US" sz="2000" dirty="0"/>
              <a:t>) </a:t>
            </a:r>
            <a:br>
              <a:rPr lang="en-US" sz="2000" dirty="0"/>
            </a:br>
            <a:endParaRPr lang="en-US" sz="2000" dirty="0"/>
          </a:p>
        </p:txBody>
      </p:sp>
      <p:pic>
        <p:nvPicPr>
          <p:cNvPr id="7" name="Picture 6">
            <a:extLst>
              <a:ext uri="{FF2B5EF4-FFF2-40B4-BE49-F238E27FC236}">
                <a16:creationId xmlns:a16="http://schemas.microsoft.com/office/drawing/2014/main" id="{044F082C-7AFE-4F88-A280-516297427719}"/>
              </a:ext>
            </a:extLst>
          </p:cNvPr>
          <p:cNvPicPr/>
          <p:nvPr/>
        </p:nvPicPr>
        <p:blipFill rotWithShape="1">
          <a:blip r:embed="rId2"/>
          <a:srcRect r="40950"/>
          <a:stretch/>
        </p:blipFill>
        <p:spPr>
          <a:xfrm>
            <a:off x="623046" y="2241177"/>
            <a:ext cx="5472953" cy="3997698"/>
          </a:xfrm>
          <a:prstGeom prst="rect">
            <a:avLst/>
          </a:prstGeom>
        </p:spPr>
      </p:pic>
      <p:pic>
        <p:nvPicPr>
          <p:cNvPr id="8" name="Picture 7">
            <a:extLst>
              <a:ext uri="{FF2B5EF4-FFF2-40B4-BE49-F238E27FC236}">
                <a16:creationId xmlns:a16="http://schemas.microsoft.com/office/drawing/2014/main" id="{6A33410E-3AD3-4182-AFE9-77AB764E2688}"/>
              </a:ext>
            </a:extLst>
          </p:cNvPr>
          <p:cNvPicPr/>
          <p:nvPr/>
        </p:nvPicPr>
        <p:blipFill rotWithShape="1">
          <a:blip r:embed="rId3"/>
          <a:srcRect r="40950"/>
          <a:stretch/>
        </p:blipFill>
        <p:spPr>
          <a:xfrm>
            <a:off x="6490447" y="2241177"/>
            <a:ext cx="5190565" cy="3997698"/>
          </a:xfrm>
          <a:prstGeom prst="rect">
            <a:avLst/>
          </a:prstGeom>
        </p:spPr>
      </p:pic>
    </p:spTree>
    <p:extLst>
      <p:ext uri="{BB962C8B-B14F-4D97-AF65-F5344CB8AC3E}">
        <p14:creationId xmlns:p14="http://schemas.microsoft.com/office/powerpoint/2010/main" val="2135068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FC20-1858-42E2-A300-80FE82947C12}"/>
              </a:ext>
            </a:extLst>
          </p:cNvPr>
          <p:cNvSpPr>
            <a:spLocks noGrp="1"/>
          </p:cNvSpPr>
          <p:nvPr>
            <p:ph type="title"/>
          </p:nvPr>
        </p:nvSpPr>
        <p:spPr>
          <a:xfrm>
            <a:off x="913775" y="618518"/>
            <a:ext cx="10364451" cy="448284"/>
          </a:xfrm>
        </p:spPr>
        <p:txBody>
          <a:bodyPr>
            <a:normAutofit/>
          </a:bodyPr>
          <a:lstStyle/>
          <a:p>
            <a:r>
              <a:rPr lang="en-US" sz="2000" dirty="0"/>
              <a:t>7. c) Average Traffic Delay per Route</a:t>
            </a:r>
          </a:p>
        </p:txBody>
      </p:sp>
      <p:pic>
        <p:nvPicPr>
          <p:cNvPr id="4" name="Picture 3">
            <a:extLst>
              <a:ext uri="{FF2B5EF4-FFF2-40B4-BE49-F238E27FC236}">
                <a16:creationId xmlns:a16="http://schemas.microsoft.com/office/drawing/2014/main" id="{A3DEE32E-2DA8-4646-8169-ADF85D6012F6}"/>
              </a:ext>
            </a:extLst>
          </p:cNvPr>
          <p:cNvPicPr/>
          <p:nvPr/>
        </p:nvPicPr>
        <p:blipFill>
          <a:blip r:embed="rId2"/>
          <a:stretch>
            <a:fillRect/>
          </a:stretch>
        </p:blipFill>
        <p:spPr>
          <a:xfrm>
            <a:off x="913775" y="1434354"/>
            <a:ext cx="10552084" cy="4805128"/>
          </a:xfrm>
          <a:prstGeom prst="rect">
            <a:avLst/>
          </a:prstGeom>
        </p:spPr>
      </p:pic>
    </p:spTree>
    <p:extLst>
      <p:ext uri="{BB962C8B-B14F-4D97-AF65-F5344CB8AC3E}">
        <p14:creationId xmlns:p14="http://schemas.microsoft.com/office/powerpoint/2010/main" val="4143331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C4B79-9DD9-42F6-A99F-6D06E0F5EE2D}"/>
              </a:ext>
            </a:extLst>
          </p:cNvPr>
          <p:cNvSpPr>
            <a:spLocks noGrp="1"/>
          </p:cNvSpPr>
          <p:nvPr>
            <p:ph type="title"/>
          </p:nvPr>
        </p:nvSpPr>
        <p:spPr>
          <a:xfrm>
            <a:off x="913775" y="618517"/>
            <a:ext cx="10364451" cy="528965"/>
          </a:xfrm>
        </p:spPr>
        <p:txBody>
          <a:bodyPr>
            <a:normAutofit/>
          </a:bodyPr>
          <a:lstStyle/>
          <a:p>
            <a:r>
              <a:rPr lang="en-US" sz="2500" b="1" dirty="0"/>
              <a:t>Project Summary</a:t>
            </a:r>
          </a:p>
        </p:txBody>
      </p:sp>
      <p:sp>
        <p:nvSpPr>
          <p:cNvPr id="3" name="Content Placeholder 2">
            <a:extLst>
              <a:ext uri="{FF2B5EF4-FFF2-40B4-BE49-F238E27FC236}">
                <a16:creationId xmlns:a16="http://schemas.microsoft.com/office/drawing/2014/main" id="{BA31E78E-97C5-4864-920D-3E1BAB8A47B7}"/>
              </a:ext>
            </a:extLst>
          </p:cNvPr>
          <p:cNvSpPr>
            <a:spLocks noGrp="1"/>
          </p:cNvSpPr>
          <p:nvPr>
            <p:ph sz="quarter" idx="13"/>
          </p:nvPr>
        </p:nvSpPr>
        <p:spPr>
          <a:xfrm>
            <a:off x="913774" y="1317812"/>
            <a:ext cx="10363826" cy="4473387"/>
          </a:xfrm>
        </p:spPr>
        <p:txBody>
          <a:bodyPr>
            <a:normAutofit lnSpcReduction="10000"/>
          </a:bodyPr>
          <a:lstStyle/>
          <a:p>
            <a:r>
              <a:rPr lang="en-US" dirty="0"/>
              <a:t>This project analyzed logistics and delivery operations using SQL by working with datasets such as </a:t>
            </a:r>
            <a:r>
              <a:rPr lang="en-US" b="1" dirty="0"/>
              <a:t>orders, routes, warehouses, delivery agents, and shipment tracking</a:t>
            </a:r>
            <a:r>
              <a:rPr lang="en-US" dirty="0"/>
              <a:t>. Key performance metrics like </a:t>
            </a:r>
            <a:r>
              <a:rPr lang="en-US" b="1" dirty="0"/>
              <a:t>On-Time Delivery %, average delays by region, traffic delays per route, and agent performance</a:t>
            </a:r>
            <a:r>
              <a:rPr lang="en-US" dirty="0"/>
              <a:t> were calculated to evaluate delivery efficiency.</a:t>
            </a:r>
          </a:p>
          <a:p>
            <a:r>
              <a:rPr lang="en-US" dirty="0"/>
              <a:t>The analysis revealed that </a:t>
            </a:r>
            <a:r>
              <a:rPr lang="en-US" b="1" dirty="0"/>
              <a:t>traffic conditions, route efficiency, and warehouse operations</a:t>
            </a:r>
            <a:r>
              <a:rPr lang="en-US" dirty="0"/>
              <a:t> significantly impact delivery performance. By identifying high-delay routes, common delay reasons, and lower-performing agents, the project demonstrates how </a:t>
            </a:r>
            <a:r>
              <a:rPr lang="en-US" b="1" dirty="0"/>
              <a:t>SQL-based data analysis can help logistics companies detect bottlenecks and improve operational decisions</a:t>
            </a:r>
            <a:r>
              <a:rPr lang="en-US" dirty="0"/>
              <a:t>.</a:t>
            </a:r>
          </a:p>
          <a:p>
            <a:r>
              <a:rPr lang="en-US" dirty="0"/>
              <a:t>Overall, this project shows how data analytics can support </a:t>
            </a:r>
            <a:r>
              <a:rPr lang="en-US" b="1" dirty="0"/>
              <a:t>better route planning, performance monitoring, and supply chain optimization.</a:t>
            </a:r>
            <a:endParaRPr lang="en-US" dirty="0"/>
          </a:p>
          <a:p>
            <a:pPr marL="0" indent="0">
              <a:buNone/>
            </a:pPr>
            <a:endParaRPr lang="en-US" dirty="0"/>
          </a:p>
        </p:txBody>
      </p:sp>
    </p:spTree>
    <p:extLst>
      <p:ext uri="{BB962C8B-B14F-4D97-AF65-F5344CB8AC3E}">
        <p14:creationId xmlns:p14="http://schemas.microsoft.com/office/powerpoint/2010/main" val="793634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3F7372-96A5-4768-997E-9536A2CF1E97}"/>
              </a:ext>
            </a:extLst>
          </p:cNvPr>
          <p:cNvSpPr txBox="1"/>
          <p:nvPr/>
        </p:nvSpPr>
        <p:spPr>
          <a:xfrm>
            <a:off x="3056965" y="2921168"/>
            <a:ext cx="5593975" cy="1015663"/>
          </a:xfrm>
          <a:prstGeom prst="rect">
            <a:avLst/>
          </a:prstGeom>
          <a:noFill/>
        </p:spPr>
        <p:txBody>
          <a:bodyPr wrap="square" rtlCol="0">
            <a:spAutoFit/>
          </a:bodyPr>
          <a:lstStyle/>
          <a:p>
            <a:pPr algn="ctr"/>
            <a:r>
              <a:rPr lang="en-US" sz="6000" b="1" dirty="0">
                <a:ln w="6600">
                  <a:solidFill>
                    <a:schemeClr val="accent2"/>
                  </a:solidFill>
                  <a:prstDash val="solid"/>
                </a:ln>
                <a:solidFill>
                  <a:srgbClr val="FFFFFF"/>
                </a:solidFill>
                <a:effectLst>
                  <a:outerShdw dist="38100" dir="2700000" algn="tl" rotWithShape="0">
                    <a:schemeClr val="accent2"/>
                  </a:outerShdw>
                </a:effectLst>
              </a:rPr>
              <a:t>THANK YOU!</a:t>
            </a:r>
          </a:p>
        </p:txBody>
      </p:sp>
      <p:sp>
        <p:nvSpPr>
          <p:cNvPr id="4" name="Rectangle 3">
            <a:extLst>
              <a:ext uri="{FF2B5EF4-FFF2-40B4-BE49-F238E27FC236}">
                <a16:creationId xmlns:a16="http://schemas.microsoft.com/office/drawing/2014/main" id="{09DCFEEA-92A2-4797-824D-FBCD33868F2C}"/>
              </a:ext>
            </a:extLst>
          </p:cNvPr>
          <p:cNvSpPr/>
          <p:nvPr/>
        </p:nvSpPr>
        <p:spPr>
          <a:xfrm>
            <a:off x="3701355" y="2921168"/>
            <a:ext cx="4430700" cy="1015663"/>
          </a:xfrm>
          <a:prstGeom prst="rect">
            <a:avLst/>
          </a:prstGeom>
          <a:noFill/>
        </p:spPr>
        <p:txBody>
          <a:bodyPr wrap="none" lIns="91440" tIns="45720" rIns="91440" bIns="45720">
            <a:spAutoFit/>
          </a:bodyPr>
          <a:lstStyle/>
          <a:p>
            <a:pPr algn="ctr"/>
            <a:r>
              <a:rPr lang="en-US" sz="6000" b="1" cap="none" spc="0" dirty="0">
                <a:ln w="22225">
                  <a:solidFill>
                    <a:schemeClr val="accent2"/>
                  </a:solidFill>
                  <a:prstDash val="solid"/>
                </a:ln>
                <a:solidFill>
                  <a:schemeClr val="accent2">
                    <a:lumMod val="40000"/>
                    <a:lumOff val="60000"/>
                  </a:schemeClr>
                </a:solidFill>
                <a:effectLst/>
              </a:rPr>
              <a:t>THANK YOU!</a:t>
            </a:r>
          </a:p>
        </p:txBody>
      </p:sp>
      <p:sp>
        <p:nvSpPr>
          <p:cNvPr id="6" name="TextBox 5">
            <a:extLst>
              <a:ext uri="{FF2B5EF4-FFF2-40B4-BE49-F238E27FC236}">
                <a16:creationId xmlns:a16="http://schemas.microsoft.com/office/drawing/2014/main" id="{8A0797FB-81FC-4892-9344-D17257F6767F}"/>
              </a:ext>
            </a:extLst>
          </p:cNvPr>
          <p:cNvSpPr txBox="1"/>
          <p:nvPr/>
        </p:nvSpPr>
        <p:spPr>
          <a:xfrm>
            <a:off x="2115671" y="1748117"/>
            <a:ext cx="7476564" cy="677108"/>
          </a:xfrm>
          <a:prstGeom prst="rect">
            <a:avLst/>
          </a:prstGeom>
          <a:noFill/>
        </p:spPr>
        <p:txBody>
          <a:bodyPr wrap="square" rtlCol="0">
            <a:spAutoFit/>
          </a:bodyPr>
          <a:lstStyle/>
          <a:p>
            <a:pPr algn="ctr"/>
            <a:r>
              <a:rPr lang="en-US" sz="2000" b="1" dirty="0"/>
              <a:t>THE LINK OF MY VIDEO:</a:t>
            </a:r>
          </a:p>
          <a:p>
            <a:pPr algn="ctr"/>
            <a:r>
              <a:rPr lang="en-US" dirty="0"/>
              <a:t>https://www.loom.com/share/f1fc230fa2964d129a49de1576034a8b</a:t>
            </a:r>
          </a:p>
        </p:txBody>
      </p:sp>
    </p:spTree>
    <p:extLst>
      <p:ext uri="{BB962C8B-B14F-4D97-AF65-F5344CB8AC3E}">
        <p14:creationId xmlns:p14="http://schemas.microsoft.com/office/powerpoint/2010/main" val="2181833385"/>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TM04033925[[fn=Droplet]]</Template>
  <TotalTime>179</TotalTime>
  <Words>689</Words>
  <Application>Microsoft Office PowerPoint</Application>
  <PresentationFormat>Widescreen</PresentationFormat>
  <Paragraphs>56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Tw Cen MT</vt:lpstr>
      <vt:lpstr>Droplet</vt:lpstr>
      <vt:lpstr>PowerPoint Presentation</vt:lpstr>
      <vt:lpstr>Project Objective </vt:lpstr>
      <vt:lpstr>TASK 1: DATA CLEANING &amp; PREPARATION</vt:lpstr>
      <vt:lpstr>The shipment_tracking table has duplicate values</vt:lpstr>
      <vt:lpstr>      1. c) Convert all date columns into YYYY-MM-DD format using SQL functions.   </vt:lpstr>
      <vt:lpstr>   1. d) Ensure that no actual_delivery_date is before order_date (flag such records).  </vt:lpstr>
      <vt:lpstr>Task 2: delivery delay analysis</vt:lpstr>
      <vt:lpstr>2. c) Use window functions to rank all orders by delay within each warehouse.  </vt:lpstr>
      <vt:lpstr>Task 3: route optimization insights</vt:lpstr>
      <vt:lpstr>3. c) Find routes with &gt;20% delayed shipments.   </vt:lpstr>
      <vt:lpstr>3. d) Recommend potential routes for optimization.  </vt:lpstr>
      <vt:lpstr>Task 4: Warehouse Performance </vt:lpstr>
      <vt:lpstr>4. d) Rank warehouses based on on-time delivery percentage.   </vt:lpstr>
      <vt:lpstr> Task 5: Delivery Agent Performance </vt:lpstr>
      <vt:lpstr>5. c) Compare average speed of top 5 vs bottom 5 agents using subqueries  </vt:lpstr>
      <vt:lpstr>6. b) Find the most common delay reasons (excluding None)   </vt:lpstr>
      <vt:lpstr>6. c) Identify orders with &gt;2 delayed checkpoints  </vt:lpstr>
      <vt:lpstr>Task 7: Advanced KPI Reporting </vt:lpstr>
      <vt:lpstr>7. c) Average Traffic Delay per Route</vt:lpstr>
      <vt:lpstr>Project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OPTIMIZATION FOR DELIVERY ROUTES AMAZON</dc:title>
  <dc:creator>Shatrusudan Sharma</dc:creator>
  <cp:lastModifiedBy>Shatrusudan Sharma</cp:lastModifiedBy>
  <cp:revision>11</cp:revision>
  <dcterms:created xsi:type="dcterms:W3CDTF">2026-03-09T11:34:48Z</dcterms:created>
  <dcterms:modified xsi:type="dcterms:W3CDTF">2026-05-12T15:48:58Z</dcterms:modified>
</cp:coreProperties>
</file>